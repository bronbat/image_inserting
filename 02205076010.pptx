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274"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tr-TR"/>
              <a:t>Asıl başlık stilini düzenlemek için tıklayın</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AE5A4E67-3425-47BA-B91F-3965DC54750D}" type="datetimeFigureOut">
              <a:rPr lang="tr-TR" smtClean="0"/>
              <a:t>17.11.2022</a:t>
            </a:fld>
            <a:endParaRPr lang="tr-TR"/>
          </a:p>
        </p:txBody>
      </p:sp>
      <p:sp>
        <p:nvSpPr>
          <p:cNvPr id="5" name="Footer Placeholder 4"/>
          <p:cNvSpPr>
            <a:spLocks noGrp="1"/>
          </p:cNvSpPr>
          <p:nvPr>
            <p:ph type="ftr" sz="quarter" idx="11"/>
          </p:nvPr>
        </p:nvSpPr>
        <p:spPr>
          <a:xfrm>
            <a:off x="1371600" y="4323845"/>
            <a:ext cx="6400800" cy="365125"/>
          </a:xfrm>
        </p:spPr>
        <p:txBody>
          <a:bodyPr/>
          <a:lstStyle/>
          <a:p>
            <a:endParaRPr lang="tr-TR"/>
          </a:p>
        </p:txBody>
      </p:sp>
      <p:sp>
        <p:nvSpPr>
          <p:cNvPr id="6" name="Slide Number Placeholder 5"/>
          <p:cNvSpPr>
            <a:spLocks noGrp="1"/>
          </p:cNvSpPr>
          <p:nvPr>
            <p:ph type="sldNum" sz="quarter" idx="12"/>
          </p:nvPr>
        </p:nvSpPr>
        <p:spPr>
          <a:xfrm>
            <a:off x="8077200" y="1430866"/>
            <a:ext cx="2743200" cy="365125"/>
          </a:xfrm>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429017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E5A4E67-3425-47BA-B91F-3965DC54750D}" type="datetimeFigureOut">
              <a:rPr lang="tr-TR" smtClean="0"/>
              <a:t>17.11.2022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3092503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AE5A4E67-3425-47BA-B91F-3965DC54750D}" type="datetimeFigureOut">
              <a:rPr lang="tr-TR" smtClean="0"/>
              <a:t>17.11.2022</a:t>
            </a:fld>
            <a:endParaRPr lang="tr-TR"/>
          </a:p>
        </p:txBody>
      </p:sp>
      <p:sp>
        <p:nvSpPr>
          <p:cNvPr id="5" name="Footer Placeholder 4"/>
          <p:cNvSpPr>
            <a:spLocks noGrp="1"/>
          </p:cNvSpPr>
          <p:nvPr>
            <p:ph type="ftr" sz="quarter" idx="11"/>
          </p:nvPr>
        </p:nvSpPr>
        <p:spPr>
          <a:xfrm>
            <a:off x="685800" y="381001"/>
            <a:ext cx="6991492" cy="364065"/>
          </a:xfrm>
        </p:spPr>
        <p:txBody>
          <a:bodyPr/>
          <a:lstStyle/>
          <a:p>
            <a:endParaRPr lang="tr-TR"/>
          </a:p>
        </p:txBody>
      </p:sp>
      <p:sp>
        <p:nvSpPr>
          <p:cNvPr id="6" name="Slide Number Placeholder 5"/>
          <p:cNvSpPr>
            <a:spLocks noGrp="1"/>
          </p:cNvSpPr>
          <p:nvPr>
            <p:ph type="sldNum" sz="quarter" idx="12"/>
          </p:nvPr>
        </p:nvSpPr>
        <p:spPr>
          <a:xfrm>
            <a:off x="10862452" y="381000"/>
            <a:ext cx="643748" cy="365125"/>
          </a:xfrm>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1215490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AE5A4E67-3425-47BA-B91F-3965DC54750D}" type="datetimeFigureOut">
              <a:rPr lang="tr-TR" smtClean="0"/>
              <a:t>17.11.2022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3896855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685800" y="3132666"/>
            <a:ext cx="5311775" cy="3086019"/>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172200" y="3132666"/>
            <a:ext cx="5334000" cy="3086019"/>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AE5A4E67-3425-47BA-B91F-3965DC54750D}" type="datetimeFigureOut">
              <a:rPr lang="tr-TR" smtClean="0"/>
              <a:t>17.11.2022</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1542098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AE5A4E67-3425-47BA-B91F-3965DC54750D}" type="datetimeFigureOut">
              <a:rPr lang="tr-TR" smtClean="0"/>
              <a:t>17.11.2022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740710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5A4E67-3425-47BA-B91F-3965DC54750D}" type="datetimeFigureOut">
              <a:rPr lang="tr-TR" smtClean="0"/>
              <a:t>17.11.2022</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1664882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tr-TR"/>
              <a:t>Asıl başlık stilini düzenlemek için tıklayın</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AE5A4E67-3425-47BA-B91F-3965DC54750D}" type="datetimeFigureOut">
              <a:rPr lang="tr-TR" smtClean="0"/>
              <a:t>17.11.2022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3502519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AE5A4E67-3425-47BA-B91F-3965DC54750D}" type="datetimeFigureOut">
              <a:rPr lang="tr-TR" smtClean="0"/>
              <a:t>17.11.2022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3878930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AE5A4E67-3425-47BA-B91F-3965DC54750D}" type="datetimeFigureOut">
              <a:rPr lang="tr-TR" smtClean="0"/>
              <a:t>17.11.2022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1528665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Başlık ve Resim Yazısı">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AE5A4E67-3425-47BA-B91F-3965DC54750D}" type="datetimeFigureOut">
              <a:rPr lang="tr-TR" smtClean="0"/>
              <a:t>17.11.2022</a:t>
            </a:fld>
            <a:endParaRPr lang="tr-TR"/>
          </a:p>
        </p:txBody>
      </p:sp>
      <p:sp>
        <p:nvSpPr>
          <p:cNvPr id="6" name="Footer Placeholder 5"/>
          <p:cNvSpPr>
            <a:spLocks noGrp="1"/>
          </p:cNvSpPr>
          <p:nvPr>
            <p:ph type="ftr" sz="quarter" idx="11"/>
          </p:nvPr>
        </p:nvSpPr>
        <p:spPr>
          <a:xfrm>
            <a:off x="685800" y="379941"/>
            <a:ext cx="6991492" cy="365125"/>
          </a:xfrm>
        </p:spPr>
        <p:txBody>
          <a:bodyPr/>
          <a:lstStyle/>
          <a:p>
            <a:endParaRPr lang="tr-TR"/>
          </a:p>
        </p:txBody>
      </p:sp>
      <p:sp>
        <p:nvSpPr>
          <p:cNvPr id="7" name="Slide Number Placeholder 6"/>
          <p:cNvSpPr>
            <a:spLocks noGrp="1"/>
          </p:cNvSpPr>
          <p:nvPr>
            <p:ph type="sldNum" sz="quarter" idx="12"/>
          </p:nvPr>
        </p:nvSpPr>
        <p:spPr>
          <a:xfrm>
            <a:off x="10862452" y="381000"/>
            <a:ext cx="643748" cy="365125"/>
          </a:xfrm>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3758061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Resim Yazılı Alıntı">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tr-TR"/>
              <a:t>Asıl başlık stilini düzenlemek için tıklayın</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AE5A4E67-3425-47BA-B91F-3965DC54750D}" type="datetimeFigureOut">
              <a:rPr lang="tr-TR" smtClean="0"/>
              <a:t>17.11.2022</a:t>
            </a:fld>
            <a:endParaRPr lang="tr-TR"/>
          </a:p>
        </p:txBody>
      </p:sp>
      <p:sp>
        <p:nvSpPr>
          <p:cNvPr id="6" name="Footer Placeholder 5"/>
          <p:cNvSpPr>
            <a:spLocks noGrp="1"/>
          </p:cNvSpPr>
          <p:nvPr>
            <p:ph type="ftr" sz="quarter" idx="11"/>
          </p:nvPr>
        </p:nvSpPr>
        <p:spPr>
          <a:xfrm>
            <a:off x="685800" y="379941"/>
            <a:ext cx="6991492" cy="365125"/>
          </a:xfrm>
        </p:spPr>
        <p:txBody>
          <a:bodyPr/>
          <a:lstStyle/>
          <a:p>
            <a:endParaRPr lang="tr-TR"/>
          </a:p>
        </p:txBody>
      </p:sp>
      <p:sp>
        <p:nvSpPr>
          <p:cNvPr id="7" name="Slide Number Placeholder 6"/>
          <p:cNvSpPr>
            <a:spLocks noGrp="1"/>
          </p:cNvSpPr>
          <p:nvPr>
            <p:ph type="sldNum" sz="quarter" idx="12"/>
          </p:nvPr>
        </p:nvSpPr>
        <p:spPr>
          <a:xfrm>
            <a:off x="10862452" y="381000"/>
            <a:ext cx="643748" cy="365125"/>
          </a:xfrm>
        </p:spPr>
        <p:txBody>
          <a:bodyPr/>
          <a:lstStyle/>
          <a:p>
            <a:fld id="{0E185EC0-EE6C-47B2-A815-726BC8DA48A2}" type="slidenum">
              <a:rPr lang="tr-TR" smtClean="0"/>
              <a:t>‹#›</a:t>
            </a:fld>
            <a:endParaRPr lang="tr-TR"/>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911795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İsim Kartı">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AE5A4E67-3425-47BA-B91F-3965DC54750D}" type="datetimeFigureOut">
              <a:rPr lang="tr-TR" smtClean="0"/>
              <a:t>17.11.2022</a:t>
            </a:fld>
            <a:endParaRPr lang="tr-TR"/>
          </a:p>
        </p:txBody>
      </p:sp>
      <p:sp>
        <p:nvSpPr>
          <p:cNvPr id="6" name="Footer Placeholder 5"/>
          <p:cNvSpPr>
            <a:spLocks noGrp="1"/>
          </p:cNvSpPr>
          <p:nvPr>
            <p:ph type="ftr" sz="quarter" idx="11"/>
          </p:nvPr>
        </p:nvSpPr>
        <p:spPr>
          <a:xfrm>
            <a:off x="685800" y="378883"/>
            <a:ext cx="6991492" cy="365125"/>
          </a:xfrm>
        </p:spPr>
        <p:txBody>
          <a:bodyPr/>
          <a:lstStyle/>
          <a:p>
            <a:endParaRPr lang="tr-TR"/>
          </a:p>
        </p:txBody>
      </p:sp>
      <p:sp>
        <p:nvSpPr>
          <p:cNvPr id="7" name="Slide Number Placeholder 6"/>
          <p:cNvSpPr>
            <a:spLocks noGrp="1"/>
          </p:cNvSpPr>
          <p:nvPr>
            <p:ph type="sldNum" sz="quarter" idx="12"/>
          </p:nvPr>
        </p:nvSpPr>
        <p:spPr>
          <a:xfrm>
            <a:off x="10862452" y="381000"/>
            <a:ext cx="643748" cy="365125"/>
          </a:xfrm>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39131812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tr-TR"/>
              <a:t>Asıl başlık stilini düzenlemek için tıklayın</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AE5A4E67-3425-47BA-B91F-3965DC54750D}" type="datetimeFigureOut">
              <a:rPr lang="tr-TR" smtClean="0"/>
              <a:t>17.11.2022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19757781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tr-TR"/>
              <a:t>Asıl başlık stilini düzenlemek için tıklayın</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AE5A4E67-3425-47BA-B91F-3965DC54750D}" type="datetimeFigureOut">
              <a:rPr lang="tr-TR" smtClean="0"/>
              <a:t>17.11.2022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1760327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E5A4E67-3425-47BA-B91F-3965DC54750D}" type="datetimeFigureOut">
              <a:rPr lang="tr-TR" smtClean="0"/>
              <a:t>17.11.2022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16634319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AE5A4E67-3425-47BA-B91F-3965DC54750D}" type="datetimeFigureOut">
              <a:rPr lang="tr-TR" smtClean="0"/>
              <a:t>17.11.2022</a:t>
            </a:fld>
            <a:endParaRPr lang="tr-TR"/>
          </a:p>
        </p:txBody>
      </p:sp>
      <p:sp>
        <p:nvSpPr>
          <p:cNvPr id="5" name="Footer Placeholder 4"/>
          <p:cNvSpPr>
            <a:spLocks noGrp="1"/>
          </p:cNvSpPr>
          <p:nvPr>
            <p:ph type="ftr" sz="quarter" idx="11"/>
          </p:nvPr>
        </p:nvSpPr>
        <p:spPr>
          <a:xfrm>
            <a:off x="685800" y="381000"/>
            <a:ext cx="6991492" cy="365125"/>
          </a:xfrm>
        </p:spPr>
        <p:txBody>
          <a:bodyPr/>
          <a:lstStyle/>
          <a:p>
            <a:endParaRPr lang="tr-TR"/>
          </a:p>
        </p:txBody>
      </p:sp>
      <p:sp>
        <p:nvSpPr>
          <p:cNvPr id="6" name="Slide Number Placeholder 5"/>
          <p:cNvSpPr>
            <a:spLocks noGrp="1"/>
          </p:cNvSpPr>
          <p:nvPr>
            <p:ph type="sldNum" sz="quarter" idx="12"/>
          </p:nvPr>
        </p:nvSpPr>
        <p:spPr>
          <a:xfrm>
            <a:off x="10862452" y="381000"/>
            <a:ext cx="643748" cy="365125"/>
          </a:xfrm>
        </p:spPr>
        <p:txBody>
          <a:bodyPr/>
          <a:lstStyle/>
          <a:p>
            <a:fld id="{0E185EC0-EE6C-47B2-A815-726BC8DA48A2}" type="slidenum">
              <a:rPr lang="tr-TR" smtClean="0"/>
              <a:t>‹#›</a:t>
            </a:fld>
            <a:endParaRPr lang="tr-TR"/>
          </a:p>
        </p:txBody>
      </p:sp>
    </p:spTree>
    <p:extLst>
      <p:ext uri="{BB962C8B-B14F-4D97-AF65-F5344CB8AC3E}">
        <p14:creationId xmlns:p14="http://schemas.microsoft.com/office/powerpoint/2010/main" val="1108634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E5A4E67-3425-47BA-B91F-3965DC54750D}" type="datetimeFigureOut">
              <a:rPr lang="tr-TR" smtClean="0"/>
              <a:t>17.11.2022</a:t>
            </a:fld>
            <a:endParaRPr lang="tr-TR"/>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E185EC0-EE6C-47B2-A815-726BC8DA48A2}" type="slidenum">
              <a:rPr lang="tr-TR" smtClean="0"/>
              <a:t>‹#›</a:t>
            </a:fld>
            <a:endParaRPr lang="tr-TR"/>
          </a:p>
        </p:txBody>
      </p:sp>
    </p:spTree>
    <p:extLst>
      <p:ext uri="{BB962C8B-B14F-4D97-AF65-F5344CB8AC3E}">
        <p14:creationId xmlns:p14="http://schemas.microsoft.com/office/powerpoint/2010/main" val="273063687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F76C28C-5F59-7817-05BF-0FCA18035E61}"/>
              </a:ext>
            </a:extLst>
          </p:cNvPr>
          <p:cNvSpPr>
            <a:spLocks noGrp="1"/>
          </p:cNvSpPr>
          <p:nvPr>
            <p:ph type="ctrTitle"/>
          </p:nvPr>
        </p:nvSpPr>
        <p:spPr>
          <a:xfrm>
            <a:off x="521110" y="1288026"/>
            <a:ext cx="10299290" cy="2340475"/>
          </a:xfrm>
        </p:spPr>
        <p:txBody>
          <a:bodyPr>
            <a:normAutofit fontScale="90000"/>
          </a:bodyPr>
          <a:lstStyle/>
          <a:p>
            <a:r>
              <a:rPr lang="tr-TR" dirty="0"/>
              <a:t>Kiraz Meyvesinin görüntü işleme kullanarak sınıflandırılması</a:t>
            </a:r>
          </a:p>
        </p:txBody>
      </p:sp>
      <p:sp>
        <p:nvSpPr>
          <p:cNvPr id="3" name="Alt Başlık 2">
            <a:extLst>
              <a:ext uri="{FF2B5EF4-FFF2-40B4-BE49-F238E27FC236}">
                <a16:creationId xmlns:a16="http://schemas.microsoft.com/office/drawing/2014/main" id="{B143E432-910B-D0FA-8BBE-D33095E5174E}"/>
              </a:ext>
            </a:extLst>
          </p:cNvPr>
          <p:cNvSpPr>
            <a:spLocks noGrp="1"/>
          </p:cNvSpPr>
          <p:nvPr>
            <p:ph type="subTitle" idx="1"/>
          </p:nvPr>
        </p:nvSpPr>
        <p:spPr/>
        <p:txBody>
          <a:bodyPr>
            <a:normAutofit fontScale="92500" lnSpcReduction="10000"/>
          </a:bodyPr>
          <a:lstStyle/>
          <a:p>
            <a:r>
              <a:rPr lang="tr-TR" dirty="0"/>
              <a:t>Hazırlayan: Aziz Berkay Aksoy</a:t>
            </a:r>
          </a:p>
          <a:p>
            <a:r>
              <a:rPr lang="tr-TR" dirty="0"/>
              <a:t>No: 02205076010</a:t>
            </a:r>
          </a:p>
        </p:txBody>
      </p:sp>
    </p:spTree>
    <p:extLst>
      <p:ext uri="{BB962C8B-B14F-4D97-AF65-F5344CB8AC3E}">
        <p14:creationId xmlns:p14="http://schemas.microsoft.com/office/powerpoint/2010/main" val="14342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98AF64A-B48E-CC18-33A8-98A981C7B786}"/>
              </a:ext>
            </a:extLst>
          </p:cNvPr>
          <p:cNvSpPr>
            <a:spLocks noGrp="1"/>
          </p:cNvSpPr>
          <p:nvPr>
            <p:ph type="title"/>
          </p:nvPr>
        </p:nvSpPr>
        <p:spPr/>
        <p:txBody>
          <a:bodyPr/>
          <a:lstStyle/>
          <a:p>
            <a:r>
              <a:rPr lang="tr-TR" dirty="0"/>
              <a:t>Matlab ile sınıflandırılması</a:t>
            </a:r>
          </a:p>
        </p:txBody>
      </p:sp>
      <p:sp>
        <p:nvSpPr>
          <p:cNvPr id="3" name="İçerik Yer Tutucusu 2">
            <a:extLst>
              <a:ext uri="{FF2B5EF4-FFF2-40B4-BE49-F238E27FC236}">
                <a16:creationId xmlns:a16="http://schemas.microsoft.com/office/drawing/2014/main" id="{EC4B9E50-688E-917F-6C56-22ABB80223D1}"/>
              </a:ext>
            </a:extLst>
          </p:cNvPr>
          <p:cNvSpPr>
            <a:spLocks noGrp="1"/>
          </p:cNvSpPr>
          <p:nvPr>
            <p:ph idx="1"/>
          </p:nvPr>
        </p:nvSpPr>
        <p:spPr/>
        <p:txBody>
          <a:bodyPr/>
          <a:lstStyle/>
          <a:p>
            <a:r>
              <a:rPr lang="tr-TR" dirty="0"/>
              <a:t>Yapılan bu çalışmada görüntü işleme yöntemleri kullanılarak kiraz meyvesinin boyutlarına göre sınıflandırılması amaçlanmış. Bu amaçla Matlab R2013a programı kullanılmış görüntüsü alınan meyveleri küçük boy, orta boy, büyük boy olarak sınıflandıracak bir çalışma gerçekleştirilmiş. Yapılan çalışmada kirazlar üst üste gelmeden ayrık olarak resimlenmiş. Bu sayede sınıflandırma başarısı %100 olarak gerçekleştiği görülmüş. Daha sonra elde edilen görüntü çeşitli filtreleme işlemlerine tabi tutulmuş ve belirli algoritmalar ile kirazların sınır alanları belirlenmiş. Sınırları belirlenen kirazlara ait boyut bilgisi hesaplanarak, kirazlara ait boyutsal sınıflandırma işlemi gerçekleştirilmiş.</a:t>
            </a:r>
          </a:p>
        </p:txBody>
      </p:sp>
    </p:spTree>
    <p:extLst>
      <p:ext uri="{BB962C8B-B14F-4D97-AF65-F5344CB8AC3E}">
        <p14:creationId xmlns:p14="http://schemas.microsoft.com/office/powerpoint/2010/main" val="1188700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EE9D896-AC70-1A15-3198-77926F7DE44B}"/>
              </a:ext>
            </a:extLst>
          </p:cNvPr>
          <p:cNvSpPr>
            <a:spLocks noGrp="1"/>
          </p:cNvSpPr>
          <p:nvPr>
            <p:ph type="title"/>
          </p:nvPr>
        </p:nvSpPr>
        <p:spPr/>
        <p:txBody>
          <a:bodyPr/>
          <a:lstStyle/>
          <a:p>
            <a:r>
              <a:rPr lang="tr-TR" dirty="0"/>
              <a:t>Kullanılan metot</a:t>
            </a:r>
          </a:p>
        </p:txBody>
      </p:sp>
      <p:sp>
        <p:nvSpPr>
          <p:cNvPr id="3" name="İçerik Yer Tutucusu 2">
            <a:extLst>
              <a:ext uri="{FF2B5EF4-FFF2-40B4-BE49-F238E27FC236}">
                <a16:creationId xmlns:a16="http://schemas.microsoft.com/office/drawing/2014/main" id="{31D5FE47-B541-BBF1-18E0-EDAE2A496247}"/>
              </a:ext>
            </a:extLst>
          </p:cNvPr>
          <p:cNvSpPr>
            <a:spLocks noGrp="1"/>
          </p:cNvSpPr>
          <p:nvPr>
            <p:ph idx="1"/>
          </p:nvPr>
        </p:nvSpPr>
        <p:spPr/>
        <p:txBody>
          <a:bodyPr>
            <a:normAutofit fontScale="70000" lnSpcReduction="20000"/>
          </a:bodyPr>
          <a:lstStyle/>
          <a:p>
            <a:r>
              <a:rPr lang="tr-TR" dirty="0"/>
              <a:t>Yapılan çalışmada, görüntüsü alınan kirazların Tablo 1’ de belirlenen standartlara göre Matlab programı ile sınıflandırılması yapılmıştır. Kiraz meyvesinin sınıflandırılması için gerekli olan işlem adımları aşağıdaki Şekil 3’de gösterilmiştir.                                                                    </a:t>
            </a:r>
          </a:p>
          <a:p>
            <a:endParaRPr lang="tr-TR" dirty="0"/>
          </a:p>
          <a:p>
            <a:endParaRPr lang="tr-TR" dirty="0"/>
          </a:p>
          <a:p>
            <a:endParaRPr lang="tr-TR" dirty="0"/>
          </a:p>
          <a:p>
            <a:endParaRPr lang="tr-TR" dirty="0"/>
          </a:p>
          <a:p>
            <a:endParaRPr lang="tr-TR" dirty="0"/>
          </a:p>
          <a:p>
            <a:endParaRPr lang="tr-TR" dirty="0"/>
          </a:p>
          <a:p>
            <a:endParaRPr lang="tr-TR" dirty="0"/>
          </a:p>
          <a:p>
            <a:endParaRPr lang="tr-TR" dirty="0"/>
          </a:p>
          <a:p>
            <a:r>
              <a:rPr lang="tr-TR" dirty="0"/>
              <a:t> İşlenmiş olarak sisteme yüklenen resim siyah- beyaz piksellere dönüştürülmektedir. Resmin siyah-beyaz piksellere yani </a:t>
            </a:r>
            <a:r>
              <a:rPr lang="tr-TR" dirty="0" err="1"/>
              <a:t>binary</a:t>
            </a:r>
            <a:r>
              <a:rPr lang="tr-TR" dirty="0"/>
              <a:t> moda dönüştürülmesi iki aşamada gerçekleşmektedir. İlk aşamada resmin arka planı beyaza kirazlar ise siyaha dönüştürülmektedir. İkinci aşamada ise </a:t>
            </a:r>
            <a:r>
              <a:rPr lang="tr-TR" dirty="0" err="1"/>
              <a:t>binary</a:t>
            </a:r>
            <a:r>
              <a:rPr lang="tr-TR" dirty="0"/>
              <a:t> moddaki resim Matlab </a:t>
            </a:r>
            <a:r>
              <a:rPr lang="tr-TR" dirty="0" err="1"/>
              <a:t>bwboundaries</a:t>
            </a:r>
            <a:r>
              <a:rPr lang="tr-TR" dirty="0"/>
              <a:t> komutu ile ters çevrilerek arka plan siyaha sınıflandırılacak olan kirazlar beyaza dönüştürülmektedir. Aşağıdaki Şekil 5’de resmin siyah-beyaz piksellere dönüştürülmüş hali gösterilmiştir.</a:t>
            </a:r>
          </a:p>
        </p:txBody>
      </p:sp>
      <p:pic>
        <p:nvPicPr>
          <p:cNvPr id="5" name="Resim 4">
            <a:extLst>
              <a:ext uri="{FF2B5EF4-FFF2-40B4-BE49-F238E27FC236}">
                <a16:creationId xmlns:a16="http://schemas.microsoft.com/office/drawing/2014/main" id="{F9CDFED0-4A82-5F3D-5C97-D886EDCD0F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399" y="2801799"/>
            <a:ext cx="6675698" cy="2209992"/>
          </a:xfrm>
          <a:prstGeom prst="rect">
            <a:avLst/>
          </a:prstGeom>
        </p:spPr>
      </p:pic>
    </p:spTree>
    <p:extLst>
      <p:ext uri="{BB962C8B-B14F-4D97-AF65-F5344CB8AC3E}">
        <p14:creationId xmlns:p14="http://schemas.microsoft.com/office/powerpoint/2010/main" val="3550150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1188BA9-16D9-9317-B4F8-19F6BF766D28}"/>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2A443307-F1CE-3CEE-FA56-3B0A95AFF6F8}"/>
              </a:ext>
            </a:extLst>
          </p:cNvPr>
          <p:cNvSpPr>
            <a:spLocks noGrp="1"/>
          </p:cNvSpPr>
          <p:nvPr>
            <p:ph idx="1"/>
          </p:nvPr>
        </p:nvSpPr>
        <p:spPr/>
        <p:txBody>
          <a:bodyPr/>
          <a:lstStyle/>
          <a:p>
            <a:r>
              <a:rPr lang="tr-TR" dirty="0"/>
              <a:t>Resim siyah-beyaz piksellere dönüştürülüp ters çevirme işlemi uygulandıktan sonra resimde bulunan belirli boyutun altındaki gürültü olarak tabir edilen nesneler Matlab </a:t>
            </a:r>
            <a:r>
              <a:rPr lang="tr-TR" dirty="0" err="1"/>
              <a:t>bwareaopen</a:t>
            </a:r>
            <a:r>
              <a:rPr lang="tr-TR" dirty="0"/>
              <a:t> komutu ile kaldırılmıştır. Daha sonra program tarafından tespit edilen kirazların sınırları eşikleme yöntemi kullanılarak mavi renk ile belirlenmiş ve resimde bulunan nesne sayısı ekrana yansıtılmıştır. </a:t>
            </a:r>
          </a:p>
        </p:txBody>
      </p:sp>
      <p:pic>
        <p:nvPicPr>
          <p:cNvPr id="5" name="Resim 4">
            <a:extLst>
              <a:ext uri="{FF2B5EF4-FFF2-40B4-BE49-F238E27FC236}">
                <a16:creationId xmlns:a16="http://schemas.microsoft.com/office/drawing/2014/main" id="{5F27623F-0AAE-DED8-BAE5-5D2EDFCCE6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6750" y="4023935"/>
            <a:ext cx="3673158" cy="1905165"/>
          </a:xfrm>
          <a:prstGeom prst="rect">
            <a:avLst/>
          </a:prstGeom>
        </p:spPr>
      </p:pic>
      <p:pic>
        <p:nvPicPr>
          <p:cNvPr id="7" name="Resim 6">
            <a:extLst>
              <a:ext uri="{FF2B5EF4-FFF2-40B4-BE49-F238E27FC236}">
                <a16:creationId xmlns:a16="http://schemas.microsoft.com/office/drawing/2014/main" id="{3B19FC47-6127-1F8B-0857-9E8E942DBB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8699" y="4313520"/>
            <a:ext cx="3535986" cy="1615580"/>
          </a:xfrm>
          <a:prstGeom prst="rect">
            <a:avLst/>
          </a:prstGeom>
        </p:spPr>
      </p:pic>
    </p:spTree>
    <p:extLst>
      <p:ext uri="{BB962C8B-B14F-4D97-AF65-F5344CB8AC3E}">
        <p14:creationId xmlns:p14="http://schemas.microsoft.com/office/powerpoint/2010/main" val="2504474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4C5973F-2513-257B-6274-74B0455EF3DA}"/>
              </a:ext>
            </a:extLst>
          </p:cNvPr>
          <p:cNvSpPr>
            <a:spLocks noGrp="1"/>
          </p:cNvSpPr>
          <p:nvPr>
            <p:ph type="title"/>
          </p:nvPr>
        </p:nvSpPr>
        <p:spPr/>
        <p:txBody>
          <a:bodyPr/>
          <a:lstStyle/>
          <a:p>
            <a:r>
              <a:rPr lang="tr-TR" dirty="0"/>
              <a:t> Araştırma Sonuçları</a:t>
            </a:r>
          </a:p>
        </p:txBody>
      </p:sp>
      <p:sp>
        <p:nvSpPr>
          <p:cNvPr id="3" name="İçerik Yer Tutucusu 2">
            <a:extLst>
              <a:ext uri="{FF2B5EF4-FFF2-40B4-BE49-F238E27FC236}">
                <a16:creationId xmlns:a16="http://schemas.microsoft.com/office/drawing/2014/main" id="{0E1D932E-E6D6-00E9-ED4F-6291E55A69F9}"/>
              </a:ext>
            </a:extLst>
          </p:cNvPr>
          <p:cNvSpPr>
            <a:spLocks noGrp="1"/>
          </p:cNvSpPr>
          <p:nvPr>
            <p:ph idx="1"/>
          </p:nvPr>
        </p:nvSpPr>
        <p:spPr/>
        <p:txBody>
          <a:bodyPr>
            <a:normAutofit fontScale="92500" lnSpcReduction="10000"/>
          </a:bodyPr>
          <a:lstStyle/>
          <a:p>
            <a:r>
              <a:rPr lang="tr-TR" dirty="0"/>
              <a:t>Yapılan çalışmada, Ülkemizde yaygın olarak yetiştirilen ve en önemli ihracat ürünlerinden birisi olan kiraz meyvesinin klasik sınıflandırma yöntemleri yerine görüntü işleme teknikleri ile sınıflandırılması sağlanmıştır. Bu sayede önemli ihracat ürünlerinden biri olan kiraz meyvesinin uluslararası standartlara uygun olarak tasnif edilmesi sağlanacak ve ülke ekonomisine katkısı dahada arttırılacaktır. Yapılan çalışmada kiraz meyvesinin referans boyut değerleri isteğe göre değiştirilerek farklı boyutlarda sınıflama işlemleri de gerçekleştirilebilmektedir. Ayrıca kiraz meyvesinin sınıflandırılması için uygulanan algoritma ve filtreleme yöntemleri farklı meyvelerin sınıflandırılmasında da kullanılabilmektedir. Bu amaçla farklı meyvelere ait boyut bilgileri sisteme girilerek farklı meyvelerinde sınıflandırılması sağlanabilmektedir. Yapılan çalışma ile farklı büyüklükteki meyveler sistem tarafından başarılı bir şekilde değerlendirilerek sınıflandırılmıştır. Bu sayede kalite ve pazarlama için önemli bir etken olan sınıflandırma işlemi gerçekleştirilmiştir. Matlab programında görüntü işleme yöntemleri ile kiraz meyvesinin sınıflandırılması üzerine yapılmış bu çalışma, diğer çalışmalar içinde bir örnek teşkil edecektir.</a:t>
            </a:r>
          </a:p>
        </p:txBody>
      </p:sp>
    </p:spTree>
    <p:extLst>
      <p:ext uri="{BB962C8B-B14F-4D97-AF65-F5344CB8AC3E}">
        <p14:creationId xmlns:p14="http://schemas.microsoft.com/office/powerpoint/2010/main" val="3128128487"/>
      </p:ext>
    </p:extLst>
  </p:cSld>
  <p:clrMapOvr>
    <a:masterClrMapping/>
  </p:clrMapOvr>
</p:sld>
</file>

<file path=ppt/theme/theme1.xml><?xml version="1.0" encoding="utf-8"?>
<a:theme xmlns:a="http://schemas.openxmlformats.org/drawingml/2006/main" name="Uçak İzi">
  <a:themeElements>
    <a:clrScheme name="Uçak İzi">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Uçak İzi">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çak İzi">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TM04033937[[fn=Uçak İzi]]</Template>
  <TotalTime>12</TotalTime>
  <Words>404</Words>
  <Application>Microsoft Office PowerPoint</Application>
  <PresentationFormat>Geniş ekran</PresentationFormat>
  <Paragraphs>19</Paragraphs>
  <Slides>5</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5</vt:i4>
      </vt:variant>
    </vt:vector>
  </HeadingPairs>
  <TitlesOfParts>
    <vt:vector size="8" baseType="lpstr">
      <vt:lpstr>Arial</vt:lpstr>
      <vt:lpstr>Century Gothic</vt:lpstr>
      <vt:lpstr>Uçak İzi</vt:lpstr>
      <vt:lpstr>Kiraz Meyvesinin görüntü işleme kullanarak sınıflandırılması</vt:lpstr>
      <vt:lpstr>Matlab ile sınıflandırılması</vt:lpstr>
      <vt:lpstr>Kullanılan metot</vt:lpstr>
      <vt:lpstr>PowerPoint Sunusu</vt:lpstr>
      <vt:lpstr> Araştırma Sonuçları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Kiraz Meyvesinin görüntü işleme kullanarak sınıflandırılması</dc:title>
  <dc:creator>Aziz Berkay Aksoy</dc:creator>
  <cp:lastModifiedBy>Aziz Berkay Aksoy</cp:lastModifiedBy>
  <cp:revision>1</cp:revision>
  <dcterms:created xsi:type="dcterms:W3CDTF">2022-11-17T14:36:31Z</dcterms:created>
  <dcterms:modified xsi:type="dcterms:W3CDTF">2022-11-17T14:48:32Z</dcterms:modified>
</cp:coreProperties>
</file>