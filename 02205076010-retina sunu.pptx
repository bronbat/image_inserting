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6" r:id="rId2"/>
    <p:sldId id="256" r:id="rId3"/>
    <p:sldId id="282" r:id="rId4"/>
    <p:sldId id="271" r:id="rId5"/>
    <p:sldId id="283" r:id="rId6"/>
    <p:sldId id="284" r:id="rId7"/>
    <p:sldId id="272" r:id="rId8"/>
    <p:sldId id="285" r:id="rId9"/>
    <p:sldId id="286" r:id="rId10"/>
    <p:sldId id="287" r:id="rId11"/>
    <p:sldId id="273" r:id="rId12"/>
    <p:sldId id="288" r:id="rId13"/>
    <p:sldId id="289" r:id="rId14"/>
    <p:sldId id="281" r:id="rId15"/>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ziz Berkay Aksoy" initials="ABA" lastIdx="1" clrIdx="0">
    <p:extLst>
      <p:ext uri="{19B8F6BF-5375-455C-9EA6-DF929625EA0E}">
        <p15:presenceInfo xmlns:p15="http://schemas.microsoft.com/office/powerpoint/2012/main" userId="2b6bf063acd45fb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4" d="100"/>
          <a:sy n="124" d="100"/>
        </p:scale>
        <p:origin x="27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CE63DF-DE17-42E2-89CB-908738A0D67E}" type="datetimeFigureOut">
              <a:rPr lang="zh-CN" altLang="en-US" smtClean="0"/>
              <a:pPr/>
              <a:t>2022/12/15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76CE29-DF48-4D02-B21C-8FC3B940C65B}" type="slidenum">
              <a:rPr lang="zh-CN" altLang="en-US" smtClean="0"/>
              <a:pPr/>
              <a:t>‹#›</a:t>
            </a:fld>
            <a:endParaRPr lang="zh-CN" altLang="en-US"/>
          </a:p>
        </p:txBody>
      </p:sp>
    </p:spTree>
    <p:extLst>
      <p:ext uri="{BB962C8B-B14F-4D97-AF65-F5344CB8AC3E}">
        <p14:creationId xmlns:p14="http://schemas.microsoft.com/office/powerpoint/2010/main" val="16430858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ln/>
        </p:spPr>
        <p:txBody>
          <a:bodyPr/>
          <a:lstStyle>
            <a:lvl1pPr>
              <a:defRPr/>
            </a:lvl1pPr>
          </a:lstStyle>
          <a:p>
            <a:pPr>
              <a:defRPr/>
            </a:pPr>
            <a:fld id="{592F71B4-2B7C-4C97-A9BD-2C819316D36A}" type="datetimeFigureOut">
              <a:rPr lang="zh-CN" altLang="en-US"/>
              <a:pPr>
                <a:defRPr/>
              </a:pPr>
              <a:t>2022/12/15</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E730855D-9E2A-4A42-BEB6-1C2A129AECC8}" type="slidenum">
              <a:rPr lang="zh-CN" altLang="en-US"/>
              <a:pPr/>
              <a:t>‹#›</a:t>
            </a:fld>
            <a:endParaRPr lang="zh-CN" altLang="en-US"/>
          </a:p>
        </p:txBody>
      </p:sp>
    </p:spTree>
    <p:extLst>
      <p:ext uri="{BB962C8B-B14F-4D97-AF65-F5344CB8AC3E}">
        <p14:creationId xmlns:p14="http://schemas.microsoft.com/office/powerpoint/2010/main" val="1040586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87CCD9C6-F84D-4738-A213-F53EF0B220A3}" type="datetimeFigureOut">
              <a:rPr lang="zh-CN" altLang="en-US"/>
              <a:pPr>
                <a:defRPr/>
              </a:pPr>
              <a:t>2022/12/15</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9965C853-1293-4D13-9DE7-A2865CC9EA3E}" type="slidenum">
              <a:rPr lang="zh-CN" altLang="en-US"/>
              <a:pPr/>
              <a:t>‹#›</a:t>
            </a:fld>
            <a:endParaRPr lang="zh-CN" altLang="en-US"/>
          </a:p>
        </p:txBody>
      </p:sp>
    </p:spTree>
    <p:extLst>
      <p:ext uri="{BB962C8B-B14F-4D97-AF65-F5344CB8AC3E}">
        <p14:creationId xmlns:p14="http://schemas.microsoft.com/office/powerpoint/2010/main" val="2606048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a:ln/>
        </p:spPr>
        <p:txBody>
          <a:bodyPr/>
          <a:lstStyle>
            <a:lvl1pPr>
              <a:defRPr/>
            </a:lvl1pPr>
          </a:lstStyle>
          <a:p>
            <a:pPr>
              <a:defRPr/>
            </a:pPr>
            <a:fld id="{1F2158BC-278F-422D-ADFF-5DDFD93A6D2A}" type="datetimeFigureOut">
              <a:rPr lang="zh-CN" altLang="en-US"/>
              <a:pPr>
                <a:defRPr/>
              </a:pPr>
              <a:t>2022/12/15</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2E766DF5-9714-4F6B-9AFB-94BCAECDACFC}" type="slidenum">
              <a:rPr lang="zh-CN" altLang="en-US"/>
              <a:pPr/>
              <a:t>‹#›</a:t>
            </a:fld>
            <a:endParaRPr lang="zh-CN" altLang="en-US"/>
          </a:p>
        </p:txBody>
      </p:sp>
    </p:spTree>
    <p:extLst>
      <p:ext uri="{BB962C8B-B14F-4D97-AF65-F5344CB8AC3E}">
        <p14:creationId xmlns:p14="http://schemas.microsoft.com/office/powerpoint/2010/main" val="1045131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0"/>
            <a:ext cx="4038600" cy="3394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a:ln/>
        </p:spPr>
        <p:txBody>
          <a:bodyPr/>
          <a:lstStyle>
            <a:lvl1pPr>
              <a:defRPr/>
            </a:lvl1pPr>
          </a:lstStyle>
          <a:p>
            <a:pPr>
              <a:defRPr/>
            </a:pPr>
            <a:fld id="{4CBCE6F3-870F-46AA-B630-9F3F286B8538}" type="datetimeFigureOut">
              <a:rPr lang="zh-CN" altLang="en-US"/>
              <a:pPr>
                <a:defRPr/>
              </a:pPr>
              <a:t>2022/12/15</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5D1903FC-690C-4B6E-91D5-F67656A4FDFE}" type="slidenum">
              <a:rPr lang="zh-CN" altLang="en-US"/>
              <a:pPr/>
              <a:t>‹#›</a:t>
            </a:fld>
            <a:endParaRPr lang="zh-CN" altLang="en-US"/>
          </a:p>
        </p:txBody>
      </p:sp>
    </p:spTree>
    <p:extLst>
      <p:ext uri="{BB962C8B-B14F-4D97-AF65-F5344CB8AC3E}">
        <p14:creationId xmlns:p14="http://schemas.microsoft.com/office/powerpoint/2010/main" val="5118488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0938"/>
            <a:ext cx="4040188"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950"/>
            <a:ext cx="4040188"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150938"/>
            <a:ext cx="4041775" cy="4810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1631950"/>
            <a:ext cx="4041775" cy="296227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ln/>
        </p:spPr>
        <p:txBody>
          <a:bodyPr/>
          <a:lstStyle>
            <a:lvl1pPr>
              <a:defRPr/>
            </a:lvl1pPr>
          </a:lstStyle>
          <a:p>
            <a:pPr>
              <a:defRPr/>
            </a:pPr>
            <a:fld id="{97C43443-890E-4B8A-8D44-369F915B2725}" type="datetimeFigureOut">
              <a:rPr lang="zh-CN" altLang="en-US"/>
              <a:pPr>
                <a:defRPr/>
              </a:pPr>
              <a:t>2022/12/15</a:t>
            </a:fld>
            <a:endParaRPr lang="zh-CN" altLang="en-US"/>
          </a:p>
        </p:txBody>
      </p:sp>
      <p:sp>
        <p:nvSpPr>
          <p:cNvPr id="8"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a:ln/>
        </p:spPr>
        <p:txBody>
          <a:bodyPr/>
          <a:lstStyle>
            <a:lvl1pPr>
              <a:defRPr/>
            </a:lvl1pPr>
          </a:lstStyle>
          <a:p>
            <a:fld id="{06E12B62-D136-48E1-9BCC-8B74BBB9FD17}" type="slidenum">
              <a:rPr lang="zh-CN" altLang="en-US"/>
              <a:pPr/>
              <a:t>‹#›</a:t>
            </a:fld>
            <a:endParaRPr lang="zh-CN" altLang="en-US"/>
          </a:p>
        </p:txBody>
      </p:sp>
    </p:spTree>
    <p:extLst>
      <p:ext uri="{BB962C8B-B14F-4D97-AF65-F5344CB8AC3E}">
        <p14:creationId xmlns:p14="http://schemas.microsoft.com/office/powerpoint/2010/main" val="3742123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ln/>
        </p:spPr>
        <p:txBody>
          <a:bodyPr/>
          <a:lstStyle>
            <a:lvl1pPr>
              <a:defRPr/>
            </a:lvl1pPr>
          </a:lstStyle>
          <a:p>
            <a:pPr>
              <a:defRPr/>
            </a:pPr>
            <a:fld id="{B56DFC4C-DBCA-4131-9F47-E1CBA42A142A}" type="datetimeFigureOut">
              <a:rPr lang="zh-CN" altLang="en-US"/>
              <a:pPr>
                <a:defRPr/>
              </a:pPr>
              <a:t>2022/12/15</a:t>
            </a:fld>
            <a:endParaRPr lang="zh-CN" altLang="en-US"/>
          </a:p>
        </p:txBody>
      </p:sp>
      <p:sp>
        <p:nvSpPr>
          <p:cNvPr id="4"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a:ln/>
        </p:spPr>
        <p:txBody>
          <a:bodyPr/>
          <a:lstStyle>
            <a:lvl1pPr>
              <a:defRPr/>
            </a:lvl1pPr>
          </a:lstStyle>
          <a:p>
            <a:fld id="{53593CEF-5214-44DF-89AC-D0FEC51A9923}" type="slidenum">
              <a:rPr lang="zh-CN" altLang="en-US"/>
              <a:pPr/>
              <a:t>‹#›</a:t>
            </a:fld>
            <a:endParaRPr lang="zh-CN" altLang="en-US"/>
          </a:p>
        </p:txBody>
      </p:sp>
    </p:spTree>
    <p:extLst>
      <p:ext uri="{BB962C8B-B14F-4D97-AF65-F5344CB8AC3E}">
        <p14:creationId xmlns:p14="http://schemas.microsoft.com/office/powerpoint/2010/main" val="2937421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ln/>
        </p:spPr>
        <p:txBody>
          <a:bodyPr/>
          <a:lstStyle>
            <a:lvl1pPr>
              <a:defRPr/>
            </a:lvl1pPr>
          </a:lstStyle>
          <a:p>
            <a:pPr>
              <a:defRPr/>
            </a:pPr>
            <a:fld id="{FCCEC48B-1523-4AC9-8F83-52072E31A6A9}" type="datetimeFigureOut">
              <a:rPr lang="zh-CN" altLang="en-US"/>
              <a:pPr>
                <a:defRPr/>
              </a:pPr>
              <a:t>2022/12/15</a:t>
            </a:fld>
            <a:endParaRPr lang="zh-CN" altLang="en-US"/>
          </a:p>
        </p:txBody>
      </p:sp>
      <p:sp>
        <p:nvSpPr>
          <p:cNvPr id="3"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a:ln/>
        </p:spPr>
        <p:txBody>
          <a:bodyPr/>
          <a:lstStyle>
            <a:lvl1pPr>
              <a:defRPr/>
            </a:lvl1pPr>
          </a:lstStyle>
          <a:p>
            <a:fld id="{8B292688-52C4-4CEC-92B7-D45015977518}" type="slidenum">
              <a:rPr lang="zh-CN" altLang="en-US"/>
              <a:pPr/>
              <a:t>‹#›</a:t>
            </a:fld>
            <a:endParaRPr lang="zh-CN" altLang="en-US"/>
          </a:p>
        </p:txBody>
      </p:sp>
    </p:spTree>
    <p:extLst>
      <p:ext uri="{BB962C8B-B14F-4D97-AF65-F5344CB8AC3E}">
        <p14:creationId xmlns:p14="http://schemas.microsoft.com/office/powerpoint/2010/main" val="12951957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04788"/>
            <a:ext cx="3008313" cy="871537"/>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43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076325"/>
            <a:ext cx="3008313" cy="35179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pPr>
              <a:defRPr/>
            </a:pPr>
            <a:fld id="{1D9D85BE-0EF1-4EB4-9F87-434EA188635E}" type="datetimeFigureOut">
              <a:rPr lang="zh-CN" altLang="en-US"/>
              <a:pPr>
                <a:defRPr/>
              </a:pPr>
              <a:t>2022/12/15</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5EED1CE8-2A10-4A46-BE35-097DA95180C8}" type="slidenum">
              <a:rPr lang="zh-CN" altLang="en-US"/>
              <a:pPr/>
              <a:t>‹#›</a:t>
            </a:fld>
            <a:endParaRPr lang="zh-CN" altLang="en-US"/>
          </a:p>
        </p:txBody>
      </p:sp>
    </p:spTree>
    <p:extLst>
      <p:ext uri="{BB962C8B-B14F-4D97-AF65-F5344CB8AC3E}">
        <p14:creationId xmlns:p14="http://schemas.microsoft.com/office/powerpoint/2010/main" val="3423630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450"/>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6037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4025900"/>
            <a:ext cx="5486400" cy="6032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pPr>
              <a:defRPr/>
            </a:pPr>
            <a:fld id="{59BD0B3C-1F01-4DF6-8E2E-BFA73E6BFE1A}" type="datetimeFigureOut">
              <a:rPr lang="zh-CN" altLang="en-US"/>
              <a:pPr>
                <a:defRPr/>
              </a:pPr>
              <a:t>2022/12/15</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B279255E-4DCD-46D0-B5BF-9D513B24752C}" type="slidenum">
              <a:rPr lang="zh-CN" altLang="en-US"/>
              <a:pPr/>
              <a:t>‹#›</a:t>
            </a:fld>
            <a:endParaRPr lang="zh-CN" altLang="en-US"/>
          </a:p>
        </p:txBody>
      </p:sp>
    </p:spTree>
    <p:extLst>
      <p:ext uri="{BB962C8B-B14F-4D97-AF65-F5344CB8AC3E}">
        <p14:creationId xmlns:p14="http://schemas.microsoft.com/office/powerpoint/2010/main" val="3609806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85EDC443-C1A4-41BC-8E67-73DFE575B549}" type="datetimeFigureOut">
              <a:rPr lang="zh-CN" altLang="en-US"/>
              <a:pPr>
                <a:defRPr/>
              </a:pPr>
              <a:t>2022/12/15</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86794770-0B25-447E-A6B5-DF90269C735B}" type="slidenum">
              <a:rPr lang="zh-CN" altLang="en-US"/>
              <a:pPr/>
              <a:t>‹#›</a:t>
            </a:fld>
            <a:endParaRPr lang="zh-CN" altLang="en-US"/>
          </a:p>
        </p:txBody>
      </p:sp>
    </p:spTree>
    <p:extLst>
      <p:ext uri="{BB962C8B-B14F-4D97-AF65-F5344CB8AC3E}">
        <p14:creationId xmlns:p14="http://schemas.microsoft.com/office/powerpoint/2010/main" val="19841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375"/>
            <a:ext cx="2057400" cy="43878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375"/>
            <a:ext cx="6019800" cy="438785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F1ECC515-168A-4152-8AC8-C882405A4710}" type="datetimeFigureOut">
              <a:rPr lang="zh-CN" altLang="en-US"/>
              <a:pPr>
                <a:defRPr/>
              </a:pPr>
              <a:t>2022/12/15</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E4332EF4-EDDD-4616-AA15-A32CBAD54A56}" type="slidenum">
              <a:rPr lang="zh-CN" altLang="en-US"/>
              <a:pPr/>
              <a:t>‹#›</a:t>
            </a:fld>
            <a:endParaRPr lang="zh-CN" altLang="en-US"/>
          </a:p>
        </p:txBody>
      </p:sp>
    </p:spTree>
    <p:extLst>
      <p:ext uri="{BB962C8B-B14F-4D97-AF65-F5344CB8AC3E}">
        <p14:creationId xmlns:p14="http://schemas.microsoft.com/office/powerpoint/2010/main" val="2956138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t>单击此处编辑母版标题样式</a:t>
            </a:r>
          </a:p>
        </p:txBody>
      </p:sp>
      <p:sp>
        <p:nvSpPr>
          <p:cNvPr id="1027" name="文本占位符 2"/>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sz="half" idx="2"/>
          </p:nvPr>
        </p:nvSpPr>
        <p:spPr bwMode="auto">
          <a:xfrm>
            <a:off x="457200" y="4767263"/>
            <a:ext cx="2133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smtClean="0">
                <a:solidFill>
                  <a:srgbClr val="898989"/>
                </a:solidFill>
                <a:latin typeface="+mn-lt"/>
              </a:defRPr>
            </a:lvl1pPr>
          </a:lstStyle>
          <a:p>
            <a:pPr>
              <a:defRPr/>
            </a:pPr>
            <a:fld id="{8E41EDD7-F2BE-4AC3-91EC-4041C01E5D0F}" type="datetimeFigureOut">
              <a:rPr lang="zh-CN" altLang="en-US"/>
              <a:pPr>
                <a:defRPr/>
              </a:pPr>
              <a:t>2022/12/15</a:t>
            </a:fld>
            <a:endParaRPr lang="zh-CN" altLang="en-US"/>
          </a:p>
        </p:txBody>
      </p:sp>
      <p:sp>
        <p:nvSpPr>
          <p:cNvPr id="1029" name="页脚占位符 4"/>
          <p:cNvSpPr>
            <a:spLocks noGrp="1" noChangeArrowheads="1"/>
          </p:cNvSpPr>
          <p:nvPr>
            <p:ph type="ftr" sz="quarter" idx="3"/>
          </p:nvPr>
        </p:nvSpPr>
        <p:spPr bwMode="auto">
          <a:xfrm>
            <a:off x="3124200" y="4767263"/>
            <a:ext cx="2895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smtClean="0">
                <a:solidFill>
                  <a:srgbClr val="898989"/>
                </a:solidFill>
                <a:latin typeface="+mn-lt"/>
              </a:defRPr>
            </a:lvl1pPr>
          </a:lstStyle>
          <a:p>
            <a:pPr>
              <a:defRPr/>
            </a:pPr>
            <a:endParaRPr lang="zh-CN" altLang="en-US"/>
          </a:p>
        </p:txBody>
      </p:sp>
      <p:sp>
        <p:nvSpPr>
          <p:cNvPr id="1030" name="灯片编号占位符 5"/>
          <p:cNvSpPr>
            <a:spLocks noGrp="1" noChangeArrowheads="1"/>
          </p:cNvSpPr>
          <p:nvPr>
            <p:ph type="sldNum" sz="quarter" idx="4"/>
          </p:nvPr>
        </p:nvSpPr>
        <p:spPr bwMode="auto">
          <a:xfrm>
            <a:off x="6553200" y="4767263"/>
            <a:ext cx="21336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0C1E8FCC-7621-4162-B47B-45C623DA2381}"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eaLnBrk="0" fontAlgn="base" hangingPunct="0">
        <a:spcBef>
          <a:spcPct val="0"/>
        </a:spcBef>
        <a:spcAft>
          <a:spcPct val="0"/>
        </a:spcAft>
        <a:defRPr sz="4400">
          <a:solidFill>
            <a:schemeClr val="tx1"/>
          </a:solidFill>
          <a:latin typeface="Calibri" pitchFamily="34" charset="0"/>
          <a:ea typeface="宋体" pitchFamily="2" charset="-122"/>
        </a:defRPr>
      </a:lvl6pPr>
      <a:lvl7pPr marL="914400" algn="ctr" rtl="0" eaLnBrk="0" fontAlgn="base" hangingPunct="0">
        <a:spcBef>
          <a:spcPct val="0"/>
        </a:spcBef>
        <a:spcAft>
          <a:spcPct val="0"/>
        </a:spcAft>
        <a:defRPr sz="4400">
          <a:solidFill>
            <a:schemeClr val="tx1"/>
          </a:solidFill>
          <a:latin typeface="Calibri" pitchFamily="34" charset="0"/>
          <a:ea typeface="宋体" pitchFamily="2" charset="-122"/>
        </a:defRPr>
      </a:lvl7pPr>
      <a:lvl8pPr marL="1371600" algn="ctr" rtl="0" eaLnBrk="0" fontAlgn="base" hangingPunct="0">
        <a:spcBef>
          <a:spcPct val="0"/>
        </a:spcBef>
        <a:spcAft>
          <a:spcPct val="0"/>
        </a:spcAft>
        <a:defRPr sz="4400">
          <a:solidFill>
            <a:schemeClr val="tx1"/>
          </a:solidFill>
          <a:latin typeface="Calibri" pitchFamily="34" charset="0"/>
          <a:ea typeface="宋体" pitchFamily="2" charset="-122"/>
        </a:defRPr>
      </a:lvl8pPr>
      <a:lvl9pPr marL="1828800" algn="ctr" rtl="0" eaLnBrk="0" fontAlgn="base" hangingPunct="0">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eaLnBrk="0" fontAlgn="base" hangingPunct="0">
        <a:spcBef>
          <a:spcPct val="20000"/>
        </a:spcBef>
        <a:spcAft>
          <a:spcPct val="0"/>
        </a:spcAft>
        <a:buFont typeface="Arial" pitchFamily="34" charset="0"/>
        <a:buChar char="»"/>
        <a:defRPr sz="2000">
          <a:solidFill>
            <a:schemeClr val="tx1"/>
          </a:solidFill>
          <a:latin typeface="+mn-lt"/>
          <a:ea typeface="+mn-ea"/>
        </a:defRPr>
      </a:lvl6pPr>
      <a:lvl7pPr marL="2971800" indent="-228600" algn="l" rtl="0" eaLnBrk="0" fontAlgn="base" hangingPunct="0">
        <a:spcBef>
          <a:spcPct val="20000"/>
        </a:spcBef>
        <a:spcAft>
          <a:spcPct val="0"/>
        </a:spcAft>
        <a:buFont typeface="Arial" pitchFamily="34" charset="0"/>
        <a:buChar char="»"/>
        <a:defRPr sz="2000">
          <a:solidFill>
            <a:schemeClr val="tx1"/>
          </a:solidFill>
          <a:latin typeface="+mn-lt"/>
          <a:ea typeface="+mn-ea"/>
        </a:defRPr>
      </a:lvl7pPr>
      <a:lvl8pPr marL="3429000" indent="-228600" algn="l" rtl="0" eaLnBrk="0" fontAlgn="base" hangingPunct="0">
        <a:spcBef>
          <a:spcPct val="20000"/>
        </a:spcBef>
        <a:spcAft>
          <a:spcPct val="0"/>
        </a:spcAft>
        <a:buFont typeface="Arial" pitchFamily="34" charset="0"/>
        <a:buChar char="»"/>
        <a:defRPr sz="2000">
          <a:solidFill>
            <a:schemeClr val="tx1"/>
          </a:solidFill>
          <a:latin typeface="+mn-lt"/>
          <a:ea typeface="+mn-ea"/>
        </a:defRPr>
      </a:lvl8pPr>
      <a:lvl9pPr marL="3886200" indent="-228600" algn="l" rtl="0" eaLnBrk="0" fontAlgn="base" hangingPunct="0">
        <a:spcBef>
          <a:spcPct val="20000"/>
        </a:spcBef>
        <a:spcAft>
          <a:spcPct val="0"/>
        </a:spcAft>
        <a:buFont typeface="Arial"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050" name="组合 33"/>
          <p:cNvGrpSpPr>
            <a:grpSpLocks/>
          </p:cNvGrpSpPr>
          <p:nvPr/>
        </p:nvGrpSpPr>
        <p:grpSpPr bwMode="auto">
          <a:xfrm>
            <a:off x="1643063" y="928688"/>
            <a:ext cx="6911429" cy="3214687"/>
            <a:chOff x="0" y="0"/>
            <a:chExt cx="6577916" cy="2643206"/>
          </a:xfrm>
        </p:grpSpPr>
        <p:grpSp>
          <p:nvGrpSpPr>
            <p:cNvPr id="2051" name="组合 30"/>
            <p:cNvGrpSpPr>
              <a:grpSpLocks/>
            </p:cNvGrpSpPr>
            <p:nvPr/>
          </p:nvGrpSpPr>
          <p:grpSpPr bwMode="auto">
            <a:xfrm>
              <a:off x="0" y="0"/>
              <a:ext cx="6577916" cy="2500330"/>
              <a:chOff x="0" y="0"/>
              <a:chExt cx="6577916" cy="2500330"/>
            </a:xfrm>
          </p:grpSpPr>
          <p:pic>
            <p:nvPicPr>
              <p:cNvPr id="2053" name="图片 5" descr="未标题-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495" y="642942"/>
                <a:ext cx="214314" cy="209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图片 7" descr="未标题-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0833" y="71438"/>
                <a:ext cx="367710" cy="35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5" name="图片 8" descr="未标题-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3115" y="1997870"/>
                <a:ext cx="513814" cy="502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56" name="直接连接符 10"/>
              <p:cNvCxnSpPr>
                <a:cxnSpLocks noChangeShapeType="1"/>
              </p:cNvCxnSpPr>
              <p:nvPr/>
            </p:nvCxnSpPr>
            <p:spPr bwMode="auto">
              <a:xfrm flipV="1">
                <a:off x="921646" y="251920"/>
                <a:ext cx="3429731" cy="49600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cxnSp>
          <p:cxnSp>
            <p:nvCxnSpPr>
              <p:cNvPr id="2057" name="直接连接符 15"/>
              <p:cNvCxnSpPr>
                <a:cxnSpLocks noChangeShapeType="1"/>
              </p:cNvCxnSpPr>
              <p:nvPr/>
            </p:nvCxnSpPr>
            <p:spPr bwMode="auto">
              <a:xfrm rot="5400000">
                <a:off x="2957285" y="748136"/>
                <a:ext cx="2001006" cy="1071225"/>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cxnSp>
          <p:cxnSp>
            <p:nvCxnSpPr>
              <p:cNvPr id="2058" name="直接连接符 18"/>
              <p:cNvCxnSpPr>
                <a:cxnSpLocks noChangeShapeType="1"/>
              </p:cNvCxnSpPr>
              <p:nvPr/>
            </p:nvCxnSpPr>
            <p:spPr bwMode="auto">
              <a:xfrm>
                <a:off x="850633" y="785783"/>
                <a:ext cx="2428008" cy="142928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cxnSp>
          <p:pic>
            <p:nvPicPr>
              <p:cNvPr id="2059" name="图片 24" descr="1245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79395" y="0"/>
                <a:ext cx="468244" cy="46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60" name="矩形 25"/>
              <p:cNvSpPr>
                <a:spLocks noChangeArrowheads="1"/>
              </p:cNvSpPr>
              <p:nvPr/>
            </p:nvSpPr>
            <p:spPr bwMode="auto">
              <a:xfrm>
                <a:off x="1005736" y="771220"/>
                <a:ext cx="5572180" cy="582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tr-TR" sz="2000" dirty="0"/>
                  <a:t>Retina kan damarlarını çıkarmak için eşikleme temelli morfolojik bir yöntem</a:t>
                </a:r>
                <a:endParaRPr lang="zh-CN" altLang="en-US" sz="2000" b="1" dirty="0">
                  <a:latin typeface="Calibri" panose="020F0502020204030204" pitchFamily="34" charset="0"/>
                </a:endParaRPr>
              </a:p>
            </p:txBody>
          </p:sp>
          <p:sp>
            <p:nvSpPr>
              <p:cNvPr id="2061" name="文本框 10"/>
              <p:cNvSpPr txBox="1">
                <a:spLocks noChangeArrowheads="1"/>
              </p:cNvSpPr>
              <p:nvPr/>
            </p:nvSpPr>
            <p:spPr bwMode="auto">
              <a:xfrm>
                <a:off x="0" y="1468448"/>
                <a:ext cx="5143535" cy="243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lnSpc>
                    <a:spcPct val="150000"/>
                  </a:lnSpc>
                </a:pPr>
                <a:r>
                  <a:rPr lang="en-US" altLang="zh-CN" sz="1000" dirty="0">
                    <a:latin typeface="微软雅黑" panose="020B0503020204020204" pitchFamily="34" charset="-122"/>
                    <a:ea typeface="微软雅黑" panose="020B0503020204020204" pitchFamily="34" charset="-122"/>
                  </a:rPr>
                  <a:t>            </a:t>
                </a:r>
                <a:endParaRPr lang="zh-CN" altLang="en-US" sz="1000" dirty="0">
                  <a:latin typeface="微软雅黑" panose="020B0503020204020204" pitchFamily="34" charset="-122"/>
                  <a:ea typeface="微软雅黑" panose="020B0503020204020204" pitchFamily="34" charset="-122"/>
                </a:endParaRPr>
              </a:p>
            </p:txBody>
          </p:sp>
        </p:grpSp>
        <p:pic>
          <p:nvPicPr>
            <p:cNvPr id="2052" name="图片 32" descr="5689.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93511" y="1928826"/>
              <a:ext cx="714380" cy="714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Metin kutusu 1">
            <a:extLst>
              <a:ext uri="{FF2B5EF4-FFF2-40B4-BE49-F238E27FC236}">
                <a16:creationId xmlns:a16="http://schemas.microsoft.com/office/drawing/2014/main" id="{ECE0E447-0281-F134-0B16-8DA3FE36ECD7}"/>
              </a:ext>
            </a:extLst>
          </p:cNvPr>
          <p:cNvSpPr txBox="1"/>
          <p:nvPr/>
        </p:nvSpPr>
        <p:spPr>
          <a:xfrm>
            <a:off x="2173799" y="2611559"/>
            <a:ext cx="3365152" cy="646331"/>
          </a:xfrm>
          <a:prstGeom prst="rect">
            <a:avLst/>
          </a:prstGeom>
          <a:noFill/>
        </p:spPr>
        <p:txBody>
          <a:bodyPr wrap="none" rtlCol="0">
            <a:spAutoFit/>
          </a:bodyPr>
          <a:lstStyle/>
          <a:p>
            <a:r>
              <a:rPr lang="tr-TR" dirty="0"/>
              <a:t>Hazırlayan:  Aziz Berkay Aksoy</a:t>
            </a:r>
          </a:p>
          <a:p>
            <a:r>
              <a:rPr lang="tr-TR" dirty="0"/>
              <a:t>No:02205076010</a:t>
            </a: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98" name="矩形 1"/>
          <p:cNvSpPr>
            <a:spLocks noChangeArrowheads="1"/>
          </p:cNvSpPr>
          <p:nvPr/>
        </p:nvSpPr>
        <p:spPr bwMode="auto">
          <a:xfrm>
            <a:off x="1619672" y="2159000"/>
            <a:ext cx="5786438" cy="857250"/>
          </a:xfrm>
          <a:prstGeom prst="rect">
            <a:avLst/>
          </a:prstGeom>
          <a:solidFill>
            <a:schemeClr val="bg1">
              <a:alpha val="79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4099" name="矩形 129"/>
          <p:cNvSpPr>
            <a:spLocks noChangeArrowheads="1"/>
          </p:cNvSpPr>
          <p:nvPr/>
        </p:nvSpPr>
        <p:spPr bwMode="auto">
          <a:xfrm>
            <a:off x="4119985" y="2294743"/>
            <a:ext cx="3286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tr-TR" sz="2400" dirty="0"/>
              <a:t>Giriş</a:t>
            </a:r>
            <a:endParaRPr lang="zh-CN" altLang="en-US" sz="2400" dirty="0">
              <a:latin typeface="微软雅黑" panose="020B0503020204020204" pitchFamily="34" charset="-122"/>
              <a:ea typeface="微软雅黑" panose="020B0503020204020204" pitchFamily="34" charset="-122"/>
            </a:endParaRPr>
          </a:p>
        </p:txBody>
      </p:sp>
      <p:sp>
        <p:nvSpPr>
          <p:cNvPr id="4100" name="TextBox 3"/>
          <p:cNvSpPr txBox="1">
            <a:spLocks noChangeArrowheads="1"/>
          </p:cNvSpPr>
          <p:nvPr/>
        </p:nvSpPr>
        <p:spPr bwMode="auto">
          <a:xfrm>
            <a:off x="3238712" y="2017724"/>
            <a:ext cx="10001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6000" b="1" dirty="0">
                <a:latin typeface="Calibri" panose="020F0502020204030204" pitchFamily="34" charset="0"/>
              </a:rPr>
              <a:t>01</a:t>
            </a:r>
            <a:endParaRPr lang="zh-CN" altLang="en-US" sz="6000" b="1" dirty="0">
              <a:latin typeface="Calibri" panose="020F0502020204030204" pitchFamily="34" charset="0"/>
            </a:endParaRPr>
          </a:p>
        </p:txBody>
      </p:sp>
      <p:sp>
        <p:nvSpPr>
          <p:cNvPr id="4101" name="矩形 5"/>
          <p:cNvSpPr>
            <a:spLocks noChangeArrowheads="1"/>
          </p:cNvSpPr>
          <p:nvPr/>
        </p:nvSpPr>
        <p:spPr bwMode="auto">
          <a:xfrm>
            <a:off x="3357563" y="2571750"/>
            <a:ext cx="3857625" cy="23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900" dirty="0">
                <a:latin typeface="微软雅黑" panose="020B0503020204020204" pitchFamily="34" charset="-122"/>
                <a:ea typeface="微软雅黑" panose="020B0503020204020204" pitchFamily="34" charset="-122"/>
              </a:rPr>
              <a:t> </a:t>
            </a:r>
            <a:endParaRPr lang="zh-CN" altLang="en-US" sz="900" dirty="0">
              <a:latin typeface="Calibri" panose="020F0502020204030204" pitchFamily="34" charset="0"/>
            </a:endParaRPr>
          </a:p>
        </p:txBody>
      </p:sp>
    </p:spTree>
  </p:cSld>
  <p:clrMapOvr>
    <a:masterClrMapping/>
  </p:clrMapOvr>
  <p:transition>
    <p:wheel spokes="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29" descr="未标题-1fa.jpg">
            <a:extLst>
              <a:ext uri="{FF2B5EF4-FFF2-40B4-BE49-F238E27FC236}">
                <a16:creationId xmlns:a16="http://schemas.microsoft.com/office/drawing/2014/main" id="{E4F3192D-33B5-1AEA-AF93-1491622C9B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064" y="1674818"/>
            <a:ext cx="3643312" cy="88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etin kutusu 1">
            <a:extLst>
              <a:ext uri="{FF2B5EF4-FFF2-40B4-BE49-F238E27FC236}">
                <a16:creationId xmlns:a16="http://schemas.microsoft.com/office/drawing/2014/main" id="{EF1AFC88-0402-1B82-205C-0E19BF9D9804}"/>
              </a:ext>
            </a:extLst>
          </p:cNvPr>
          <p:cNvSpPr txBox="1"/>
          <p:nvPr/>
        </p:nvSpPr>
        <p:spPr>
          <a:xfrm>
            <a:off x="0" y="339502"/>
            <a:ext cx="8698215" cy="707886"/>
          </a:xfrm>
          <a:prstGeom prst="rect">
            <a:avLst/>
          </a:prstGeom>
          <a:noFill/>
        </p:spPr>
        <p:txBody>
          <a:bodyPr wrap="none" rtlCol="0">
            <a:spAutoFit/>
          </a:bodyPr>
          <a:lstStyle/>
          <a:p>
            <a:r>
              <a:rPr lang="tr-TR" sz="1000" dirty="0">
                <a:solidFill>
                  <a:srgbClr val="0070C0"/>
                </a:solidFill>
              </a:rPr>
              <a:t>Diyabete bağlı retina bozuklukları kişilerde körlüğe sebep olan ve Diyabetik Retinopati (DR) olarak adlandırılan en önemli hastalıklardan biridir. </a:t>
            </a:r>
          </a:p>
          <a:p>
            <a:r>
              <a:rPr lang="tr-TR" sz="1000" dirty="0">
                <a:solidFill>
                  <a:srgbClr val="0070C0"/>
                </a:solidFill>
              </a:rPr>
              <a:t>Bu hastalığın erken teşhis edilmesi, kişilerde görme yetisinin kaybolmaması açısından önemlidir. </a:t>
            </a:r>
          </a:p>
          <a:p>
            <a:r>
              <a:rPr lang="tr-TR" sz="1000" dirty="0">
                <a:solidFill>
                  <a:srgbClr val="0070C0"/>
                </a:solidFill>
              </a:rPr>
              <a:t>DR hastalığının erken ve doğru teşhis edilmesi için retina damarlarının doğru bir şekilde bölütlenmesi gerekir. </a:t>
            </a:r>
          </a:p>
          <a:p>
            <a:r>
              <a:rPr lang="tr-TR" sz="1000" dirty="0">
                <a:solidFill>
                  <a:srgbClr val="0070C0"/>
                </a:solidFill>
              </a:rPr>
              <a:t>Retina görüntülerinin tespit edilmesi için bilgisayar destekli sistemler geliştirilmiştir. Bu sistemler yenilikçi yöntemler kullanarak sürekli geliştirilmektedir. </a:t>
            </a:r>
          </a:p>
        </p:txBody>
      </p:sp>
      <p:pic>
        <p:nvPicPr>
          <p:cNvPr id="1026" name="Picture 2" descr="Normal retina and DR affected retina | Download Scientific Diagram">
            <a:extLst>
              <a:ext uri="{FF2B5EF4-FFF2-40B4-BE49-F238E27FC236}">
                <a16:creationId xmlns:a16="http://schemas.microsoft.com/office/drawing/2014/main" id="{60ED939E-24BD-E3DF-C6DC-936A3B785D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520" y="1131590"/>
            <a:ext cx="3779674" cy="2027684"/>
          </a:xfrm>
          <a:prstGeom prst="rect">
            <a:avLst/>
          </a:prstGeom>
          <a:noFill/>
          <a:extLst>
            <a:ext uri="{909E8E84-426E-40DD-AFC4-6F175D3DCCD1}">
              <a14:hiddenFill xmlns:a14="http://schemas.microsoft.com/office/drawing/2010/main">
                <a:solidFill>
                  <a:srgbClr val="FFFFFF"/>
                </a:solidFill>
              </a14:hiddenFill>
            </a:ext>
          </a:extLst>
        </p:spPr>
      </p:pic>
      <p:sp>
        <p:nvSpPr>
          <p:cNvPr id="3" name="Metin kutusu 2">
            <a:extLst>
              <a:ext uri="{FF2B5EF4-FFF2-40B4-BE49-F238E27FC236}">
                <a16:creationId xmlns:a16="http://schemas.microsoft.com/office/drawing/2014/main" id="{186F26FD-F787-6979-CACE-3BB6CB4A9124}"/>
              </a:ext>
            </a:extLst>
          </p:cNvPr>
          <p:cNvSpPr txBox="1"/>
          <p:nvPr/>
        </p:nvSpPr>
        <p:spPr>
          <a:xfrm>
            <a:off x="4773476" y="1347614"/>
            <a:ext cx="4392488" cy="1692771"/>
          </a:xfrm>
          <a:prstGeom prst="rect">
            <a:avLst/>
          </a:prstGeom>
          <a:noFill/>
        </p:spPr>
        <p:txBody>
          <a:bodyPr wrap="square" rtlCol="0">
            <a:spAutoFit/>
          </a:bodyPr>
          <a:lstStyle/>
          <a:p>
            <a:r>
              <a:rPr lang="tr-TR" sz="800" b="1" dirty="0"/>
              <a:t>Soares vd. tarafından retina görüntülerinin piksel parlaklık değerleri üzerinde faklı ölçeklerde </a:t>
            </a:r>
            <a:r>
              <a:rPr lang="tr-TR" sz="800" b="1" dirty="0" err="1"/>
              <a:t>Gabor</a:t>
            </a:r>
            <a:r>
              <a:rPr lang="tr-TR" sz="800" b="1" dirty="0"/>
              <a:t>-Dalgacık dönüşümü uygulanmıştır. </a:t>
            </a:r>
          </a:p>
          <a:p>
            <a:r>
              <a:rPr lang="tr-TR" sz="800" b="1" dirty="0"/>
              <a:t>Elde edilen farklı ölçekteki </a:t>
            </a:r>
            <a:r>
              <a:rPr lang="tr-TR" sz="800" b="1" dirty="0" err="1"/>
              <a:t>Gabor</a:t>
            </a:r>
            <a:r>
              <a:rPr lang="tr-TR" sz="800" b="1" dirty="0"/>
              <a:t> Dalgacık dönüşüm çıktıları özellik olarak kullanılmıştır. </a:t>
            </a:r>
          </a:p>
          <a:p>
            <a:r>
              <a:rPr lang="tr-TR" sz="800" b="1" dirty="0"/>
              <a:t>Daha sonra tüm görüntüye </a:t>
            </a:r>
            <a:r>
              <a:rPr lang="tr-TR" sz="800" b="1" dirty="0" err="1"/>
              <a:t>Bayes</a:t>
            </a:r>
            <a:r>
              <a:rPr lang="tr-TR" sz="800" b="1" dirty="0"/>
              <a:t> Sınıflandırıcı uygulanarak </a:t>
            </a:r>
            <a:r>
              <a:rPr lang="tr-TR" sz="800" b="1" dirty="0" err="1"/>
              <a:t>fundus</a:t>
            </a:r>
            <a:r>
              <a:rPr lang="tr-TR" sz="800" b="1" dirty="0"/>
              <a:t> görüntüleri damar ya da damar olmayan bölgelere ayrılmıştır. </a:t>
            </a:r>
          </a:p>
          <a:p>
            <a:r>
              <a:rPr lang="tr-TR" sz="800" b="1" dirty="0" err="1"/>
              <a:t>Niemeijer</a:t>
            </a:r>
            <a:r>
              <a:rPr lang="tr-TR" sz="800" b="1" dirty="0"/>
              <a:t>  , piksel sınıflandırma yöntemini önermişlerdir. </a:t>
            </a:r>
          </a:p>
          <a:p>
            <a:r>
              <a:rPr lang="tr-TR" sz="800" b="1" dirty="0"/>
              <a:t>Önerdikleri bu sistemde Matematiksel Morfoloji, Bölge Büyütme, Eşleştirilmiş Filtre ve Doğrulama Tabanlı Yerel Eşik yaklaşımı karşılaştırılmıştır. Diego </a:t>
            </a:r>
            <a:r>
              <a:rPr lang="tr-TR" sz="800" b="1" dirty="0" err="1"/>
              <a:t>Marín</a:t>
            </a:r>
            <a:r>
              <a:rPr lang="tr-TR" sz="800" b="1" dirty="0"/>
              <a:t> vd. tarafından </a:t>
            </a:r>
            <a:r>
              <a:rPr lang="tr-TR" sz="800" b="1" dirty="0" err="1"/>
              <a:t>fundus</a:t>
            </a:r>
            <a:r>
              <a:rPr lang="tr-TR" sz="800" b="1" dirty="0"/>
              <a:t> görüntüsündeki her pikselden yedi boyutlu bir özellik vektörü çıkarılmıştır. Çıkarılan özellikler sinir ağı kullanılarak sınıflandırılmıştır. Sınıflandırma aşamasında öncelikle tespit edilen piksellerin boşlukları doldurulmuş, daha sonra hatalı tespit edilen damar pikselleri damar olmayan olarak yeniden sınıflandırılmıştır.</a:t>
            </a:r>
          </a:p>
        </p:txBody>
      </p:sp>
      <p:sp>
        <p:nvSpPr>
          <p:cNvPr id="5" name="Metin kutusu 4">
            <a:extLst>
              <a:ext uri="{FF2B5EF4-FFF2-40B4-BE49-F238E27FC236}">
                <a16:creationId xmlns:a16="http://schemas.microsoft.com/office/drawing/2014/main" id="{7E1614B1-F726-CB2C-6E18-FA2FBE9AFA5A}"/>
              </a:ext>
            </a:extLst>
          </p:cNvPr>
          <p:cNvSpPr txBox="1"/>
          <p:nvPr/>
        </p:nvSpPr>
        <p:spPr>
          <a:xfrm>
            <a:off x="251520" y="4011910"/>
            <a:ext cx="7992894" cy="707886"/>
          </a:xfrm>
          <a:prstGeom prst="rect">
            <a:avLst/>
          </a:prstGeom>
          <a:noFill/>
        </p:spPr>
        <p:txBody>
          <a:bodyPr wrap="none" rtlCol="0">
            <a:spAutoFit/>
          </a:bodyPr>
          <a:lstStyle/>
          <a:p>
            <a:r>
              <a:rPr lang="tr-TR" sz="800" b="1" dirty="0"/>
              <a:t>Bölütleme aşamasında, bölütleme görüntüsünden çıkarılan özellik vektörü eğitim aşamasında elde edilen sınıflandırıcının girişi olarak kullanılmıştır. </a:t>
            </a:r>
          </a:p>
          <a:p>
            <a:r>
              <a:rPr lang="tr-TR" sz="800" b="1" dirty="0"/>
              <a:t>Eğitim aşaması için, eğitim görüntüsünün her pikselinden bir özellik vektörü çıkarılmıştır. Sınıflandırıcının çıktısı, ikili retina damar bölütleme sonucu olmuştur. </a:t>
            </a:r>
          </a:p>
          <a:p>
            <a:r>
              <a:rPr lang="tr-TR" sz="800" b="1" dirty="0" err="1"/>
              <a:t>Jingliang</a:t>
            </a:r>
            <a:r>
              <a:rPr lang="tr-TR" sz="800" b="1" dirty="0"/>
              <a:t> Zhao tarafından öncelikli olarak </a:t>
            </a:r>
            <a:r>
              <a:rPr lang="tr-TR" sz="800" b="1" dirty="0" err="1"/>
              <a:t>fundus</a:t>
            </a:r>
            <a:r>
              <a:rPr lang="tr-TR" sz="800" b="1" dirty="0"/>
              <a:t> görüntüler üzerinde görüntü iyileştirilmesi yapılmıştır.</a:t>
            </a:r>
          </a:p>
          <a:p>
            <a:r>
              <a:rPr lang="tr-TR" sz="800" b="1" dirty="0"/>
              <a:t>İyileştirilmiş görüntüler üzerinde Süper Piksel (SLIC) yöntemi uygulanmış ve bölütleme gerçekleştirilmiştir. </a:t>
            </a:r>
          </a:p>
          <a:p>
            <a:r>
              <a:rPr lang="tr-TR" sz="800" b="1" dirty="0"/>
              <a:t>Ardından otomatik olarak seçilen düğüm noktalarından damar takibine başlanmış ve belirlenen durma kriterine ulaşıldığında takip işlemi sonlanmıştır. </a:t>
            </a:r>
          </a:p>
        </p:txBody>
      </p:sp>
      <p:sp>
        <p:nvSpPr>
          <p:cNvPr id="6" name="流程图: 联系 2">
            <a:extLst>
              <a:ext uri="{FF2B5EF4-FFF2-40B4-BE49-F238E27FC236}">
                <a16:creationId xmlns:a16="http://schemas.microsoft.com/office/drawing/2014/main" id="{2E7BAFA2-60D4-778A-52CD-B3938D2A156D}"/>
              </a:ext>
            </a:extLst>
          </p:cNvPr>
          <p:cNvSpPr>
            <a:spLocks noChangeArrowheads="1"/>
          </p:cNvSpPr>
          <p:nvPr/>
        </p:nvSpPr>
        <p:spPr bwMode="auto">
          <a:xfrm>
            <a:off x="6329957" y="3392528"/>
            <a:ext cx="639763" cy="358775"/>
          </a:xfrm>
          <a:custGeom>
            <a:avLst/>
            <a:gdLst>
              <a:gd name="T0" fmla="*/ 7773 w 1390228"/>
              <a:gd name="T1" fmla="*/ 2412 h 832104"/>
              <a:gd name="T2" fmla="*/ 10094 w 1390228"/>
              <a:gd name="T3" fmla="*/ 4934 h 832104"/>
              <a:gd name="T4" fmla="*/ 7773 w 1390228"/>
              <a:gd name="T5" fmla="*/ 7457 h 832104"/>
              <a:gd name="T6" fmla="*/ 5451 w 1390228"/>
              <a:gd name="T7" fmla="*/ 4934 h 832104"/>
              <a:gd name="T8" fmla="*/ 7773 w 1390228"/>
              <a:gd name="T9" fmla="*/ 2412 h 832104"/>
              <a:gd name="T10" fmla="*/ 7773 w 1390228"/>
              <a:gd name="T11" fmla="*/ 1425 h 832104"/>
              <a:gd name="T12" fmla="*/ 4442 w 1390228"/>
              <a:gd name="T13" fmla="*/ 5044 h 832104"/>
              <a:gd name="T14" fmla="*/ 7773 w 1390228"/>
              <a:gd name="T15" fmla="*/ 8663 h 832104"/>
              <a:gd name="T16" fmla="*/ 11103 w 1390228"/>
              <a:gd name="T17" fmla="*/ 5044 h 832104"/>
              <a:gd name="T18" fmla="*/ 7773 w 1390228"/>
              <a:gd name="T19" fmla="*/ 1425 h 832104"/>
              <a:gd name="T20" fmla="*/ 7672 w 1390228"/>
              <a:gd name="T21" fmla="*/ 0 h 832104"/>
              <a:gd name="T22" fmla="*/ 15343 w 1390228"/>
              <a:gd name="T23" fmla="*/ 4989 h 832104"/>
              <a:gd name="T24" fmla="*/ 7672 w 1390228"/>
              <a:gd name="T25" fmla="*/ 9979 h 832104"/>
              <a:gd name="T26" fmla="*/ 0 w 1390228"/>
              <a:gd name="T27" fmla="*/ 4989 h 832104"/>
              <a:gd name="T28" fmla="*/ 7672 w 1390228"/>
              <a:gd name="T29" fmla="*/ 0 h 83210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90228"/>
              <a:gd name="T46" fmla="*/ 0 h 832104"/>
              <a:gd name="T47" fmla="*/ 1390228 w 1390228"/>
              <a:gd name="T48" fmla="*/ 832104 h 83210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90228" h="832104">
                <a:moveTo>
                  <a:pt x="704258" y="201168"/>
                </a:moveTo>
                <a:cubicBezTo>
                  <a:pt x="820410" y="201168"/>
                  <a:pt x="914570" y="295328"/>
                  <a:pt x="914570" y="411480"/>
                </a:cubicBezTo>
                <a:cubicBezTo>
                  <a:pt x="914570" y="527632"/>
                  <a:pt x="820410" y="621792"/>
                  <a:pt x="704258" y="621792"/>
                </a:cubicBezTo>
                <a:cubicBezTo>
                  <a:pt x="588106" y="621792"/>
                  <a:pt x="493946" y="527632"/>
                  <a:pt x="493946" y="411480"/>
                </a:cubicBezTo>
                <a:cubicBezTo>
                  <a:pt x="493946" y="295328"/>
                  <a:pt x="588106" y="201168"/>
                  <a:pt x="704258" y="201168"/>
                </a:cubicBezTo>
                <a:close/>
                <a:moveTo>
                  <a:pt x="704258" y="118872"/>
                </a:moveTo>
                <a:cubicBezTo>
                  <a:pt x="537605" y="118872"/>
                  <a:pt x="402506" y="253971"/>
                  <a:pt x="402506" y="420624"/>
                </a:cubicBezTo>
                <a:cubicBezTo>
                  <a:pt x="402506" y="587277"/>
                  <a:pt x="537605" y="722376"/>
                  <a:pt x="704258" y="722376"/>
                </a:cubicBezTo>
                <a:cubicBezTo>
                  <a:pt x="870911" y="722376"/>
                  <a:pt x="1006010" y="587277"/>
                  <a:pt x="1006010" y="420624"/>
                </a:cubicBezTo>
                <a:cubicBezTo>
                  <a:pt x="1006010" y="253971"/>
                  <a:pt x="870911" y="118872"/>
                  <a:pt x="704258" y="118872"/>
                </a:cubicBezTo>
                <a:close/>
                <a:moveTo>
                  <a:pt x="695114" y="0"/>
                </a:moveTo>
                <a:cubicBezTo>
                  <a:pt x="996332" y="0"/>
                  <a:pt x="1258449" y="167410"/>
                  <a:pt x="1390228" y="416052"/>
                </a:cubicBezTo>
                <a:cubicBezTo>
                  <a:pt x="1258449" y="664694"/>
                  <a:pt x="996332" y="832104"/>
                  <a:pt x="695114" y="832104"/>
                </a:cubicBezTo>
                <a:cubicBezTo>
                  <a:pt x="393896" y="832104"/>
                  <a:pt x="131779" y="664694"/>
                  <a:pt x="0" y="416052"/>
                </a:cubicBezTo>
                <a:cubicBezTo>
                  <a:pt x="131779" y="167410"/>
                  <a:pt x="393896" y="0"/>
                  <a:pt x="695114" y="0"/>
                </a:cubicBezTo>
                <a:close/>
              </a:path>
            </a:pathLst>
          </a:custGeom>
          <a:solidFill>
            <a:srgbClr val="00B0F0"/>
          </a:solidFill>
          <a:ln>
            <a:noFill/>
          </a:ln>
        </p:spPr>
        <p:txBody>
          <a:bodyPr anchor="ctr"/>
          <a:lstStyle/>
          <a:p>
            <a:endParaRPr lang="zh-CN" altLang="en-US"/>
          </a:p>
        </p:txBody>
      </p:sp>
    </p:spTree>
    <p:extLst>
      <p:ext uri="{BB962C8B-B14F-4D97-AF65-F5344CB8AC3E}">
        <p14:creationId xmlns:p14="http://schemas.microsoft.com/office/powerpoint/2010/main" val="441915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218" name="矩形 1"/>
          <p:cNvSpPr>
            <a:spLocks noChangeArrowheads="1"/>
          </p:cNvSpPr>
          <p:nvPr/>
        </p:nvSpPr>
        <p:spPr bwMode="auto">
          <a:xfrm>
            <a:off x="1714500" y="2071688"/>
            <a:ext cx="5786438" cy="857250"/>
          </a:xfrm>
          <a:prstGeom prst="rect">
            <a:avLst/>
          </a:prstGeom>
          <a:solidFill>
            <a:schemeClr val="bg1">
              <a:alpha val="79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9219" name="矩形 129"/>
          <p:cNvSpPr>
            <a:spLocks noChangeArrowheads="1"/>
          </p:cNvSpPr>
          <p:nvPr/>
        </p:nvSpPr>
        <p:spPr bwMode="auto">
          <a:xfrm>
            <a:off x="3571875" y="2305050"/>
            <a:ext cx="3286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tr-TR" sz="2400" dirty="0"/>
              <a:t>Materyal ve metot</a:t>
            </a:r>
            <a:endParaRPr lang="zh-CN" altLang="en-US" sz="2400" dirty="0">
              <a:latin typeface="微软雅黑" panose="020B0503020204020204" pitchFamily="34" charset="-122"/>
              <a:ea typeface="微软雅黑" panose="020B0503020204020204" pitchFamily="34" charset="-122"/>
            </a:endParaRPr>
          </a:p>
        </p:txBody>
      </p:sp>
      <p:sp>
        <p:nvSpPr>
          <p:cNvPr id="9220" name="TextBox 3"/>
          <p:cNvSpPr txBox="1">
            <a:spLocks noChangeArrowheads="1"/>
          </p:cNvSpPr>
          <p:nvPr/>
        </p:nvSpPr>
        <p:spPr bwMode="auto">
          <a:xfrm>
            <a:off x="2571750" y="2000250"/>
            <a:ext cx="10001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6000" b="1" dirty="0">
                <a:latin typeface="Calibri" panose="020F0502020204030204" pitchFamily="34" charset="0"/>
              </a:rPr>
              <a:t>02</a:t>
            </a:r>
            <a:endParaRPr lang="zh-CN" altLang="en-US" sz="6000" b="1" dirty="0">
              <a:latin typeface="Calibri" panose="020F0502020204030204" pitchFamily="34" charset="0"/>
            </a:endParaRPr>
          </a:p>
        </p:txBody>
      </p:sp>
    </p:spTree>
  </p:cSld>
  <p:clrMapOvr>
    <a:masterClrMapping/>
  </p:clrMapOvr>
  <p:transition>
    <p:wheel spokes="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5" descr="未a fa标题-1.jpg">
            <a:extLst>
              <a:ext uri="{FF2B5EF4-FFF2-40B4-BE49-F238E27FC236}">
                <a16:creationId xmlns:a16="http://schemas.microsoft.com/office/drawing/2014/main" id="{3666BC79-A8DB-B2AE-0B03-75A80BA0CD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1027655"/>
            <a:ext cx="5400600" cy="395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Metin kutusu 1">
            <a:extLst>
              <a:ext uri="{FF2B5EF4-FFF2-40B4-BE49-F238E27FC236}">
                <a16:creationId xmlns:a16="http://schemas.microsoft.com/office/drawing/2014/main" id="{432268A0-7BC3-9C74-672F-120FAC07AE67}"/>
              </a:ext>
            </a:extLst>
          </p:cNvPr>
          <p:cNvSpPr txBox="1"/>
          <p:nvPr/>
        </p:nvSpPr>
        <p:spPr>
          <a:xfrm>
            <a:off x="-108520" y="123478"/>
            <a:ext cx="9405139" cy="1015663"/>
          </a:xfrm>
          <a:prstGeom prst="rect">
            <a:avLst/>
          </a:prstGeom>
          <a:noFill/>
        </p:spPr>
        <p:txBody>
          <a:bodyPr wrap="none" rtlCol="0">
            <a:spAutoFit/>
          </a:bodyPr>
          <a:lstStyle/>
          <a:p>
            <a:pPr algn="ctr"/>
            <a:r>
              <a:rPr lang="tr-TR" sz="1000" dirty="0"/>
              <a:t>Morfolojik işlemlerin temel amacı, görüntünün temel özelliklerini korumak ve görüntüyü basitleştirmektir.</a:t>
            </a:r>
          </a:p>
          <a:p>
            <a:pPr algn="ctr"/>
            <a:r>
              <a:rPr lang="tr-TR" sz="1000" dirty="0"/>
              <a:t>Bu çalışmada, üst-şapka ve alt-şapka dönüşümleri kan damarlarına belirginlik kazandırmak için kullanılır. </a:t>
            </a:r>
          </a:p>
          <a:p>
            <a:pPr algn="ctr"/>
            <a:r>
              <a:rPr lang="tr-TR" sz="1000" dirty="0" err="1"/>
              <a:t>Üstşapka</a:t>
            </a:r>
            <a:r>
              <a:rPr lang="tr-TR" sz="1000" dirty="0"/>
              <a:t> dönüşümü, bir giriş görüntüsüne morfolojik açma işlemi uygulandıktan sonra uygulama sonucunun orijinal giriş görüntüsünden çıkarılması işlemidir. </a:t>
            </a:r>
          </a:p>
          <a:p>
            <a:pPr algn="ctr"/>
            <a:r>
              <a:rPr lang="tr-TR" sz="1000" dirty="0"/>
              <a:t>Bu işlemin matematiksel ifadesi Denklem (1)’de verilmiştir. </a:t>
            </a:r>
          </a:p>
          <a:p>
            <a:pPr algn="ctr"/>
            <a:r>
              <a:rPr lang="tr-TR" sz="1000" dirty="0"/>
              <a:t>Alt-şapka dönüşümü, bir giriş görüntüsüne morfolojik bir kapama işlemi uygulandıktan sonra uygulama sonucunun orijinal giriş görüntüsünden çıkarılması işlemidir. </a:t>
            </a:r>
          </a:p>
          <a:p>
            <a:pPr algn="ctr"/>
            <a:r>
              <a:rPr lang="tr-TR" sz="1000" dirty="0"/>
              <a:t>Bu işlemin matematiksel ifadesi Denklem (2)’de verilmiştir.</a:t>
            </a:r>
          </a:p>
        </p:txBody>
      </p:sp>
      <p:pic>
        <p:nvPicPr>
          <p:cNvPr id="5" name="Resim 4">
            <a:extLst>
              <a:ext uri="{FF2B5EF4-FFF2-40B4-BE49-F238E27FC236}">
                <a16:creationId xmlns:a16="http://schemas.microsoft.com/office/drawing/2014/main" id="{D8D1CD95-CE9D-C082-E47A-1492F5FF7B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9870" y="2571750"/>
            <a:ext cx="2106791" cy="526698"/>
          </a:xfrm>
          <a:prstGeom prst="rect">
            <a:avLst/>
          </a:prstGeom>
        </p:spPr>
      </p:pic>
      <p:sp>
        <p:nvSpPr>
          <p:cNvPr id="6" name="Metin kutusu 5">
            <a:extLst>
              <a:ext uri="{FF2B5EF4-FFF2-40B4-BE49-F238E27FC236}">
                <a16:creationId xmlns:a16="http://schemas.microsoft.com/office/drawing/2014/main" id="{675E74AF-E77B-EA71-5AA9-CE6FB128B32A}"/>
              </a:ext>
            </a:extLst>
          </p:cNvPr>
          <p:cNvSpPr txBox="1"/>
          <p:nvPr/>
        </p:nvSpPr>
        <p:spPr>
          <a:xfrm>
            <a:off x="173051" y="3912026"/>
            <a:ext cx="8600431" cy="1107996"/>
          </a:xfrm>
          <a:prstGeom prst="rect">
            <a:avLst/>
          </a:prstGeom>
          <a:noFill/>
        </p:spPr>
        <p:txBody>
          <a:bodyPr wrap="none" rtlCol="0">
            <a:spAutoFit/>
          </a:bodyPr>
          <a:lstStyle/>
          <a:p>
            <a:r>
              <a:rPr lang="tr-TR" sz="800" b="1" u="sng" dirty="0"/>
              <a:t>Burada,</a:t>
            </a:r>
            <a:r>
              <a:rPr lang="tr-TR" sz="1000" b="1" u="sng" dirty="0"/>
              <a:t> ₒ </a:t>
            </a:r>
            <a:r>
              <a:rPr lang="tr-TR" sz="800" b="1" u="sng" dirty="0"/>
              <a:t>operatörü morfolojik açma işlemini,  operatörü ise morfolojik kapama işlemini temsil etmektedir. </a:t>
            </a:r>
          </a:p>
          <a:p>
            <a:r>
              <a:rPr lang="tr-TR" sz="800" b="1" u="sng" dirty="0"/>
              <a:t>SE parametresi ise, bir yapı elemanıdır. </a:t>
            </a:r>
          </a:p>
          <a:p>
            <a:r>
              <a:rPr lang="tr-TR" sz="800" b="1" u="sng" dirty="0"/>
              <a:t>Bu çalışmada, açılma operatörü için 21x21’lik bir disk yapı elemanı, alt ve </a:t>
            </a:r>
            <a:r>
              <a:rPr lang="tr-TR" sz="800" b="1" u="sng" dirty="0" err="1"/>
              <a:t>üstşapka</a:t>
            </a:r>
            <a:r>
              <a:rPr lang="tr-TR" sz="800" b="1" u="sng" dirty="0"/>
              <a:t> dönüşümleri için ise uzunluğu 21 olan bir çizgi yapı elemanı kullanılmıştır.</a:t>
            </a:r>
          </a:p>
          <a:p>
            <a:r>
              <a:rPr lang="tr-TR" sz="800" b="1" u="sng" dirty="0"/>
              <a:t> Denklem (1) 'e göre, açma operatörü görüntünün arka planına etki ettiğinden, üst-şapka dönüşümünün görüntünün arka planını çıkarması beklenir. </a:t>
            </a:r>
          </a:p>
          <a:p>
            <a:r>
              <a:rPr lang="tr-TR" sz="800" b="1" u="sng" dirty="0"/>
              <a:t>Bu dönüşüm, yüksek geçirgen bir filtre gibi davranır ve görüntünün maskeden daha küçük olan parlak alanlarını çıkarır. </a:t>
            </a:r>
          </a:p>
          <a:p>
            <a:r>
              <a:rPr lang="tr-TR" sz="800" b="1" u="sng" dirty="0"/>
              <a:t>Denklem (2) 'ye göre, alt-şapka dönüşümü görüntünün arka planını etkiler ve görüntünün arka plandaki maskeden daha küçük olan bazı karanlık alanları üzerinde etkili olur.</a:t>
            </a:r>
          </a:p>
          <a:p>
            <a:r>
              <a:rPr lang="tr-TR" sz="800" b="1" u="sng" dirty="0"/>
              <a:t> Parlak alanları (açma operatörünün sonuçları) görüntüye eklemek ve karanlık alanları (kapama operatörünün sonuçları) görüntüden çıkarmak mümkündür. </a:t>
            </a:r>
          </a:p>
          <a:p>
            <a:r>
              <a:rPr lang="tr-TR" sz="800" b="1" u="sng" dirty="0"/>
              <a:t>Sonuç olarak, aydınlık ve karanlık alanlar arasındaki kontrastta bir iyileşme olacaktır.</a:t>
            </a:r>
          </a:p>
        </p:txBody>
      </p:sp>
    </p:spTree>
    <p:extLst>
      <p:ext uri="{BB962C8B-B14F-4D97-AF65-F5344CB8AC3E}">
        <p14:creationId xmlns:p14="http://schemas.microsoft.com/office/powerpoint/2010/main" val="11299795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9E570B06-9B59-1336-EBBD-1530AB648977}"/>
              </a:ext>
            </a:extLst>
          </p:cNvPr>
          <p:cNvSpPr txBox="1"/>
          <p:nvPr/>
        </p:nvSpPr>
        <p:spPr>
          <a:xfrm>
            <a:off x="6971" y="123478"/>
            <a:ext cx="9005542" cy="1569660"/>
          </a:xfrm>
          <a:prstGeom prst="rect">
            <a:avLst/>
          </a:prstGeom>
          <a:noFill/>
        </p:spPr>
        <p:txBody>
          <a:bodyPr wrap="none" rtlCol="0">
            <a:spAutoFit/>
          </a:bodyPr>
          <a:lstStyle/>
          <a:p>
            <a:r>
              <a:rPr lang="tr-TR" sz="1200" dirty="0"/>
              <a:t>Eşikleme yöntemleri Görüntü eşikleme sadeliği ve sağlamlığı nedeni ile en sık kullanılan görüntü bölütleme yöntemlerinden biridir. </a:t>
            </a:r>
          </a:p>
          <a:p>
            <a:r>
              <a:rPr lang="tr-TR" sz="1200" dirty="0"/>
              <a:t>Eşikleme işlemi, gri ölçekli bir görünün yoğunluk seviyesine göre sınıflara ayrıldığı bir işlemdir. </a:t>
            </a:r>
          </a:p>
          <a:p>
            <a:r>
              <a:rPr lang="tr-TR" sz="1200" dirty="0"/>
              <a:t>Bu sınıflandırma işlemi için tanımlanmış kurallara uygun bir eşik değeri seçmek gerekir. </a:t>
            </a:r>
          </a:p>
          <a:p>
            <a:r>
              <a:rPr lang="tr-TR" sz="1200" dirty="0"/>
              <a:t>Bu çalışmada kullanılan eşikleme yöntemleri şöyledir;</a:t>
            </a:r>
          </a:p>
          <a:p>
            <a:endParaRPr lang="tr-TR" sz="1200" dirty="0">
              <a:solidFill>
                <a:schemeClr val="tx2">
                  <a:lumMod val="60000"/>
                  <a:lumOff val="40000"/>
                </a:schemeClr>
              </a:solidFill>
            </a:endParaRPr>
          </a:p>
          <a:p>
            <a:r>
              <a:rPr lang="tr-TR" sz="1200" dirty="0">
                <a:solidFill>
                  <a:schemeClr val="tx2">
                    <a:lumMod val="60000"/>
                    <a:lumOff val="40000"/>
                  </a:schemeClr>
                </a:solidFill>
              </a:rPr>
              <a:t>Çok seviyeli eşikleme;</a:t>
            </a:r>
          </a:p>
          <a:p>
            <a:r>
              <a:rPr lang="tr-TR" sz="1200" dirty="0">
                <a:solidFill>
                  <a:schemeClr val="tx2">
                    <a:lumMod val="60000"/>
                    <a:lumOff val="40000"/>
                  </a:schemeClr>
                </a:solidFill>
              </a:rPr>
              <a:t> </a:t>
            </a:r>
            <a:r>
              <a:rPr lang="tr-TR" sz="1200" dirty="0"/>
              <a:t>Gri ölçekli görüntüyü birkaç farklı bölgeye ayırabilen bir işlemdir [18]. </a:t>
            </a:r>
          </a:p>
          <a:p>
            <a:r>
              <a:rPr lang="tr-TR" sz="1200" dirty="0"/>
              <a:t>Bu işleme ait uyulması gereken kural Denklem (3)’de matematiksel olarak ifade edilmiştir.</a:t>
            </a:r>
          </a:p>
        </p:txBody>
      </p:sp>
      <p:pic>
        <p:nvPicPr>
          <p:cNvPr id="4" name="Resim 3">
            <a:extLst>
              <a:ext uri="{FF2B5EF4-FFF2-40B4-BE49-F238E27FC236}">
                <a16:creationId xmlns:a16="http://schemas.microsoft.com/office/drawing/2014/main" id="{F6EADF26-A2D4-1925-8EED-B1ADEEAE7F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104" y="898229"/>
            <a:ext cx="1402202" cy="548688"/>
          </a:xfrm>
          <a:prstGeom prst="rect">
            <a:avLst/>
          </a:prstGeom>
        </p:spPr>
      </p:pic>
      <p:sp>
        <p:nvSpPr>
          <p:cNvPr id="5" name="Metin kutusu 4">
            <a:extLst>
              <a:ext uri="{FF2B5EF4-FFF2-40B4-BE49-F238E27FC236}">
                <a16:creationId xmlns:a16="http://schemas.microsoft.com/office/drawing/2014/main" id="{4352FF2B-0EE5-E687-19DF-D7FA7116B670}"/>
              </a:ext>
            </a:extLst>
          </p:cNvPr>
          <p:cNvSpPr txBox="1"/>
          <p:nvPr/>
        </p:nvSpPr>
        <p:spPr>
          <a:xfrm>
            <a:off x="16364" y="1786920"/>
            <a:ext cx="6586778" cy="1569660"/>
          </a:xfrm>
          <a:prstGeom prst="rect">
            <a:avLst/>
          </a:prstGeom>
          <a:noFill/>
        </p:spPr>
        <p:txBody>
          <a:bodyPr wrap="square" rtlCol="0">
            <a:spAutoFit/>
          </a:bodyPr>
          <a:lstStyle/>
          <a:p>
            <a:r>
              <a:rPr lang="tr-TR" sz="1200" dirty="0"/>
              <a:t>Entropi yöntemlerine bağlı eşikleme işlemi araştırmacılar tarafından tercih edilen bir yöntemdir [19]. </a:t>
            </a:r>
            <a:r>
              <a:rPr lang="tr-TR" sz="1200" dirty="0" err="1"/>
              <a:t>Otsu’nun</a:t>
            </a:r>
            <a:r>
              <a:rPr lang="tr-TR" sz="1200" dirty="0"/>
              <a:t> eşikleme algoritmasından farklı olarak sınıflar arasındaki varyansı maksimize etmek ya da sınıf içi varyansı minimize etmek yerine sınıflar arası entropi maksimize edilir. Bu yönteme göre, bir görüntüdeki yoğunluk değerlerinin olasılık dağılımına katkı veren ön ve arka plan görüntüsüne ait entropi değerleri ayrı ayrı hesaplanır ve toplamları maksimize edilir. Ardından, entropinin toplamını maksimize eden bir optimum eşik değeri hesaplanır [20]. Arka ve ön plan görüntüsüne ait entropi değeri Denklem (4) ve Denklem (5)’de verilmiştir. Denklem (6) arka ve ön plan görüntüsüne ait entropi değerlerinin maksimize edilmiş halidir.</a:t>
            </a:r>
          </a:p>
        </p:txBody>
      </p:sp>
      <p:pic>
        <p:nvPicPr>
          <p:cNvPr id="7" name="Resim 6">
            <a:extLst>
              <a:ext uri="{FF2B5EF4-FFF2-40B4-BE49-F238E27FC236}">
                <a16:creationId xmlns:a16="http://schemas.microsoft.com/office/drawing/2014/main" id="{8282A2EC-B052-66D9-5000-B7AA32FD2F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04248" y="1909917"/>
            <a:ext cx="1798476" cy="1425063"/>
          </a:xfrm>
          <a:prstGeom prst="rect">
            <a:avLst/>
          </a:prstGeom>
        </p:spPr>
      </p:pic>
      <p:sp>
        <p:nvSpPr>
          <p:cNvPr id="8" name="Metin kutusu 7">
            <a:extLst>
              <a:ext uri="{FF2B5EF4-FFF2-40B4-BE49-F238E27FC236}">
                <a16:creationId xmlns:a16="http://schemas.microsoft.com/office/drawing/2014/main" id="{2D90C604-57C2-93F3-5382-EE8A1E25ACA3}"/>
              </a:ext>
            </a:extLst>
          </p:cNvPr>
          <p:cNvSpPr txBox="1"/>
          <p:nvPr/>
        </p:nvSpPr>
        <p:spPr>
          <a:xfrm>
            <a:off x="16364" y="3450362"/>
            <a:ext cx="5491740" cy="1015663"/>
          </a:xfrm>
          <a:prstGeom prst="rect">
            <a:avLst/>
          </a:prstGeom>
          <a:noFill/>
        </p:spPr>
        <p:txBody>
          <a:bodyPr wrap="square" rtlCol="0">
            <a:spAutoFit/>
          </a:bodyPr>
          <a:lstStyle/>
          <a:p>
            <a:r>
              <a:rPr lang="tr-TR" sz="1200" dirty="0">
                <a:solidFill>
                  <a:schemeClr val="tx2">
                    <a:lumMod val="60000"/>
                    <a:lumOff val="40000"/>
                  </a:schemeClr>
                </a:solidFill>
              </a:rPr>
              <a:t>Bulanık mantık tabanlı eşikleme;</a:t>
            </a:r>
          </a:p>
          <a:p>
            <a:r>
              <a:rPr lang="tr-TR" sz="1200" dirty="0"/>
              <a:t>Bulanık kümeleme bir yumuşak kümeleme tekniğidir. Bu kümeleme yöntemi, nesnelerin kümelere olan aitliğini ifade etmek için bir derece kavramı kullanır [21]. Her nesne için, toplam derece 1’dir. Denklem (7) her pikselin üyelik değerini hesaplamak için kullanılır.</a:t>
            </a:r>
          </a:p>
        </p:txBody>
      </p:sp>
      <p:pic>
        <p:nvPicPr>
          <p:cNvPr id="10" name="Resim 9">
            <a:extLst>
              <a:ext uri="{FF2B5EF4-FFF2-40B4-BE49-F238E27FC236}">
                <a16:creationId xmlns:a16="http://schemas.microsoft.com/office/drawing/2014/main" id="{07DD9762-3CF6-8514-EB20-2958C0595A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76210" y="3723878"/>
            <a:ext cx="1935648" cy="960203"/>
          </a:xfrm>
          <a:prstGeom prst="rect">
            <a:avLst/>
          </a:prstGeom>
        </p:spPr>
      </p:pic>
    </p:spTree>
    <p:extLst>
      <p:ext uri="{BB962C8B-B14F-4D97-AF65-F5344CB8AC3E}">
        <p14:creationId xmlns:p14="http://schemas.microsoft.com/office/powerpoint/2010/main" val="9095236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38" name="矩形 1"/>
          <p:cNvSpPr>
            <a:spLocks noChangeArrowheads="1"/>
          </p:cNvSpPr>
          <p:nvPr/>
        </p:nvSpPr>
        <p:spPr bwMode="auto">
          <a:xfrm>
            <a:off x="1714500" y="2071688"/>
            <a:ext cx="5786438" cy="857250"/>
          </a:xfrm>
          <a:prstGeom prst="rect">
            <a:avLst/>
          </a:prstGeom>
          <a:solidFill>
            <a:schemeClr val="bg1">
              <a:alpha val="79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4339" name="矩形 129"/>
          <p:cNvSpPr>
            <a:spLocks noChangeArrowheads="1"/>
          </p:cNvSpPr>
          <p:nvPr/>
        </p:nvSpPr>
        <p:spPr bwMode="auto">
          <a:xfrm>
            <a:off x="3491880" y="2301082"/>
            <a:ext cx="3286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tr-TR" sz="2400" dirty="0"/>
              <a:t>Kullanılan yöntem</a:t>
            </a:r>
            <a:endParaRPr lang="zh-CN" altLang="en-US" sz="2400" dirty="0">
              <a:latin typeface="微软雅黑" panose="020B0503020204020204" pitchFamily="34" charset="-122"/>
              <a:ea typeface="微软雅黑" panose="020B0503020204020204" pitchFamily="34" charset="-122"/>
            </a:endParaRPr>
          </a:p>
        </p:txBody>
      </p:sp>
      <p:sp>
        <p:nvSpPr>
          <p:cNvPr id="14340" name="TextBox 3"/>
          <p:cNvSpPr txBox="1">
            <a:spLocks noChangeArrowheads="1"/>
          </p:cNvSpPr>
          <p:nvPr/>
        </p:nvSpPr>
        <p:spPr bwMode="auto">
          <a:xfrm>
            <a:off x="2571750" y="1992313"/>
            <a:ext cx="10001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6000" b="1">
                <a:latin typeface="Calibri" panose="020F0502020204030204" pitchFamily="34" charset="0"/>
              </a:rPr>
              <a:t>03</a:t>
            </a:r>
            <a:endParaRPr lang="zh-CN" altLang="en-US" sz="6000" b="1">
              <a:latin typeface="Calibri" panose="020F0502020204030204" pitchFamily="34" charset="0"/>
            </a:endParaRPr>
          </a:p>
        </p:txBody>
      </p:sp>
    </p:spTree>
  </p:cSld>
  <p:clrMapOvr>
    <a:masterClrMapping/>
  </p:clrMapOvr>
  <p:transition>
    <p:wheel spokes="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FC8079B6-7D14-3BDD-7F60-547B3CD15337}"/>
              </a:ext>
            </a:extLst>
          </p:cNvPr>
          <p:cNvSpPr txBox="1"/>
          <p:nvPr/>
        </p:nvSpPr>
        <p:spPr>
          <a:xfrm>
            <a:off x="29737" y="123478"/>
            <a:ext cx="8208912" cy="1246495"/>
          </a:xfrm>
          <a:prstGeom prst="rect">
            <a:avLst/>
          </a:prstGeom>
          <a:noFill/>
        </p:spPr>
        <p:txBody>
          <a:bodyPr wrap="square" rtlCol="0">
            <a:spAutoFit/>
          </a:bodyPr>
          <a:lstStyle/>
          <a:p>
            <a:r>
              <a:rPr lang="tr-TR" sz="1500" dirty="0"/>
              <a:t>Önerilen yöntemde, veri setinde bulunan </a:t>
            </a:r>
            <a:r>
              <a:rPr lang="tr-TR" sz="1500" dirty="0" err="1"/>
              <a:t>fundus</a:t>
            </a:r>
            <a:r>
              <a:rPr lang="tr-TR" sz="1500" dirty="0"/>
              <a:t> görüntülerine ait damarların bölütlenmesi sağlanmıştır. Öncelikle, veri setinde bulunan görüntüler RGB renk uzayından gri ölçekli görüntülere dönüştürülür. Gri ölçekli görüntülerin tersi üzerinde önerilen sistem uygulanır. Şekil 1’de veri setine ait bir görüntü ve bu görüntüye ait gri ölçekli görüntü ile gri ölçekli görüntünün tersi verilmiştir. Önerilen sistemin genel yapısı ise Şekil 2’de verildiği gibidir.</a:t>
            </a:r>
          </a:p>
        </p:txBody>
      </p:sp>
      <p:pic>
        <p:nvPicPr>
          <p:cNvPr id="4" name="Resim 3">
            <a:extLst>
              <a:ext uri="{FF2B5EF4-FFF2-40B4-BE49-F238E27FC236}">
                <a16:creationId xmlns:a16="http://schemas.microsoft.com/office/drawing/2014/main" id="{978FEF41-185F-EF2A-A90F-C753967C8C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1381148"/>
            <a:ext cx="2491107" cy="3739577"/>
          </a:xfrm>
          <a:prstGeom prst="rect">
            <a:avLst/>
          </a:prstGeom>
        </p:spPr>
      </p:pic>
      <p:sp>
        <p:nvSpPr>
          <p:cNvPr id="5" name="Metin kutusu 4">
            <a:extLst>
              <a:ext uri="{FF2B5EF4-FFF2-40B4-BE49-F238E27FC236}">
                <a16:creationId xmlns:a16="http://schemas.microsoft.com/office/drawing/2014/main" id="{2B24C782-555E-C367-6C1A-9530BF323AD9}"/>
              </a:ext>
            </a:extLst>
          </p:cNvPr>
          <p:cNvSpPr txBox="1"/>
          <p:nvPr/>
        </p:nvSpPr>
        <p:spPr>
          <a:xfrm>
            <a:off x="3419872" y="1549993"/>
            <a:ext cx="4818777" cy="3539430"/>
          </a:xfrm>
          <a:prstGeom prst="rect">
            <a:avLst/>
          </a:prstGeom>
          <a:noFill/>
        </p:spPr>
        <p:txBody>
          <a:bodyPr wrap="square" rtlCol="0">
            <a:spAutoFit/>
          </a:bodyPr>
          <a:lstStyle/>
          <a:p>
            <a:r>
              <a:rPr lang="tr-TR" sz="1600" dirty="0"/>
              <a:t>		</a:t>
            </a:r>
            <a:r>
              <a:rPr lang="tr-TR" sz="1600" dirty="0">
                <a:solidFill>
                  <a:schemeClr val="tx2">
                    <a:lumMod val="60000"/>
                    <a:lumOff val="40000"/>
                  </a:schemeClr>
                </a:solidFill>
              </a:rPr>
              <a:t>Veri Seti</a:t>
            </a:r>
          </a:p>
          <a:p>
            <a:endParaRPr lang="tr-TR" sz="1600" dirty="0"/>
          </a:p>
          <a:p>
            <a:r>
              <a:rPr lang="tr-TR" sz="1600" dirty="0"/>
              <a:t>Önerilen yöntem diğer yöntemlerle kıyaslanabilir olması açısından halka açık olarak sunulan DRIVE veri seti üzerinde test edilmiştir. DRIVE veri setindeki görüntüler 45° 13 görüş alanında Canon 3CCD ile çekilmiştir. Görüntülerin her biri 565 × 584 piksel boyutunda 20 eğitim ve 20 test görüntüsünden oluşmaktadır. Veri setindeki damar pikselleri, deneyimli bir göz doktoru tarafından eğitilmiş üç gözlemci tarafından manuel olarak bölümlere ayrılmıştır. Test seti iki farklı gözlemci tarafından iki kez </a:t>
            </a:r>
            <a:r>
              <a:rPr lang="tr-TR" sz="1600" dirty="0" err="1"/>
              <a:t>bölütlendirilmiş</a:t>
            </a:r>
            <a:r>
              <a:rPr lang="tr-TR" sz="1600" dirty="0"/>
              <a:t> görüntülerden oluşur.</a:t>
            </a:r>
          </a:p>
        </p:txBody>
      </p:sp>
    </p:spTree>
    <p:extLst>
      <p:ext uri="{BB962C8B-B14F-4D97-AF65-F5344CB8AC3E}">
        <p14:creationId xmlns:p14="http://schemas.microsoft.com/office/powerpoint/2010/main" val="20649986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BEB7EAAA-A8F7-77C7-0CD0-DB46E0A50E33}"/>
              </a:ext>
            </a:extLst>
          </p:cNvPr>
          <p:cNvSpPr txBox="1"/>
          <p:nvPr/>
        </p:nvSpPr>
        <p:spPr>
          <a:xfrm>
            <a:off x="16290" y="123478"/>
            <a:ext cx="8280920" cy="2031325"/>
          </a:xfrm>
          <a:prstGeom prst="rect">
            <a:avLst/>
          </a:prstGeom>
          <a:noFill/>
        </p:spPr>
        <p:txBody>
          <a:bodyPr wrap="square" rtlCol="0">
            <a:spAutoFit/>
          </a:bodyPr>
          <a:lstStyle/>
          <a:p>
            <a:r>
              <a:rPr lang="tr-TR" sz="1400" dirty="0">
                <a:solidFill>
                  <a:schemeClr val="tx2">
                    <a:lumMod val="60000"/>
                    <a:lumOff val="40000"/>
                  </a:schemeClr>
                </a:solidFill>
              </a:rPr>
              <a:t>Morfolojik işlemler:</a:t>
            </a:r>
          </a:p>
          <a:p>
            <a:r>
              <a:rPr lang="tr-TR" sz="1400" dirty="0"/>
              <a:t>Retina kan damarları, retina arka planına göre daha koyu görünürler. Ancak, bazı durumlarda kan damarlarının merkez çizgisi bölgesinde parlaklık görünür. Bu görünüm yansımalardan kaynaklanmaktadır. Bu durumu ortadan kaldırmak için ilk önce morfolojik açma işlemi uygulanır. Morfolojik açma işlemi için yarıçapı 21 olan bir disk oluşturulur. Oluşturulan bu disk gri ölçekli görüntünün tersine uygulanarak morfolojik açma işlemi yapılmış olur. Daha sonra uzunluğu 21 olan bir çizgisel yapı elemanı oluşturulur. Oluşturulan bu çizgisel yapı elemanı gri ölçekli görüntünün tersine uygulanarak üst-şapka ve alt-şapka dönüşümleri tamamlanmış olur. Şekil 3’de bu aşamaya kadar anlatılan işlemler görsel olarak ifade edilmiştir. </a:t>
            </a:r>
          </a:p>
        </p:txBody>
      </p:sp>
      <p:pic>
        <p:nvPicPr>
          <p:cNvPr id="4" name="Resim 3">
            <a:extLst>
              <a:ext uri="{FF2B5EF4-FFF2-40B4-BE49-F238E27FC236}">
                <a16:creationId xmlns:a16="http://schemas.microsoft.com/office/drawing/2014/main" id="{FD939D3C-510E-6F04-F0CC-9BC2863689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2355726"/>
            <a:ext cx="3193057" cy="1402202"/>
          </a:xfrm>
          <a:prstGeom prst="rect">
            <a:avLst/>
          </a:prstGeom>
        </p:spPr>
      </p:pic>
      <p:sp>
        <p:nvSpPr>
          <p:cNvPr id="5" name="Metin kutusu 4">
            <a:extLst>
              <a:ext uri="{FF2B5EF4-FFF2-40B4-BE49-F238E27FC236}">
                <a16:creationId xmlns:a16="http://schemas.microsoft.com/office/drawing/2014/main" id="{1BD81785-853C-F04D-050F-C76D45FB9235}"/>
              </a:ext>
            </a:extLst>
          </p:cNvPr>
          <p:cNvSpPr txBox="1"/>
          <p:nvPr/>
        </p:nvSpPr>
        <p:spPr>
          <a:xfrm>
            <a:off x="3923928" y="2427734"/>
            <a:ext cx="5112568" cy="2246769"/>
          </a:xfrm>
          <a:prstGeom prst="rect">
            <a:avLst/>
          </a:prstGeom>
          <a:noFill/>
        </p:spPr>
        <p:txBody>
          <a:bodyPr wrap="square" rtlCol="0">
            <a:spAutoFit/>
          </a:bodyPr>
          <a:lstStyle/>
          <a:p>
            <a:r>
              <a:rPr lang="tr-TR" sz="1000" dirty="0"/>
              <a:t>Belirli bir açıda yönlendirilmiş çizgisel bir yapılandırma elamanı </a:t>
            </a:r>
            <a:r>
              <a:rPr lang="tr-TR" sz="1000" dirty="0" err="1"/>
              <a:t>fundus</a:t>
            </a:r>
            <a:r>
              <a:rPr lang="tr-TR" sz="1000" dirty="0"/>
              <a:t> içerisinde tutulamadığında bir damarı veya damarın bir kısmını yok edebilir. Bu problem genelde yapılandırma elemanı dikey yönlere sahip olduğunda ve yapılandırma elemanı damar genişliğinden daha büyük olduğu durumlarda ortaya çıkmıştır. Oysa yapılandırma elemanının yönü ile damar paralel olduğunda bir yok olma olayı meydana gelmeyecektir. M. </a:t>
            </a:r>
            <a:r>
              <a:rPr lang="tr-TR" sz="1000" dirty="0" err="1"/>
              <a:t>Fraz</a:t>
            </a:r>
            <a:r>
              <a:rPr lang="tr-TR" sz="1000" dirty="0"/>
              <a:t> , bu probleme çözüm olması için 21 piksel uzunluğunda bir çizgisel yapılandırma elemanı belirlemiştir. Bu yapısal elemanı 22.5°’lik açılarla </a:t>
            </a:r>
            <a:r>
              <a:rPr lang="tr-TR" sz="1000" dirty="0" err="1"/>
              <a:t>döndermiş</a:t>
            </a:r>
            <a:r>
              <a:rPr lang="tr-TR" sz="1000" dirty="0"/>
              <a:t> ve en büyük çapa sahip damarı çıkarmak için bir toplam üst şapka dönüşümü kullanmıştır. M. </a:t>
            </a:r>
            <a:r>
              <a:rPr lang="tr-TR" sz="1000" dirty="0" err="1"/>
              <a:t>Fraz</a:t>
            </a:r>
            <a:r>
              <a:rPr lang="tr-TR" sz="1000" dirty="0"/>
              <a:t>  tarafından önerilen toplam üst şapka dönüşümünden esinlenerek her biri 21 piksel uzunluğunda bir çizgiyi temsil eden ve her 22.5° 'de döndürülen bir çizgi yapılandırma elemanı sadece üst şapkaya değil ayrıca alt şapka ve morfolojik açma işlemine uygulanmıştır. Denklem (10)’da toplam üst şapka işlemine dahil edilen toplam alt şapka ve toplam morfolojik açma işlemi matematiksel olarak ifade edilmiştir.</a:t>
            </a:r>
          </a:p>
        </p:txBody>
      </p:sp>
    </p:spTree>
    <p:extLst>
      <p:ext uri="{BB962C8B-B14F-4D97-AF65-F5344CB8AC3E}">
        <p14:creationId xmlns:p14="http://schemas.microsoft.com/office/powerpoint/2010/main" val="4100791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948DB158-356A-2ACD-7830-75B1F84B26A2}"/>
              </a:ext>
            </a:extLst>
          </p:cNvPr>
          <p:cNvSpPr txBox="1"/>
          <p:nvPr/>
        </p:nvSpPr>
        <p:spPr>
          <a:xfrm>
            <a:off x="107504" y="123478"/>
            <a:ext cx="9001000" cy="1815882"/>
          </a:xfrm>
          <a:prstGeom prst="rect">
            <a:avLst/>
          </a:prstGeom>
          <a:noFill/>
        </p:spPr>
        <p:txBody>
          <a:bodyPr wrap="square" rtlCol="0">
            <a:spAutoFit/>
          </a:bodyPr>
          <a:lstStyle/>
          <a:p>
            <a:r>
              <a:rPr lang="tr-TR" sz="1400" dirty="0"/>
              <a:t>Daha sonra, M. D. </a:t>
            </a:r>
            <a:r>
              <a:rPr lang="tr-TR" sz="1400" dirty="0" err="1"/>
              <a:t>Saleh</a:t>
            </a:r>
            <a:r>
              <a:rPr lang="tr-TR" sz="1400" dirty="0"/>
              <a:t> tarafından önerilen matematiksel ifade kullanılmış ve Denklem (10)’ da elde edilen sonuçlar bu matematiksel ifadeye göre nihai sonuca ulaşmıştır. M. D. </a:t>
            </a:r>
            <a:r>
              <a:rPr lang="tr-TR" sz="1400" dirty="0" err="1"/>
              <a:t>Saleh</a:t>
            </a:r>
            <a:r>
              <a:rPr lang="tr-TR" sz="1400" dirty="0"/>
              <a:t> de verilen matematiksel ifadede morfolojik açma işleminin üzerine üst-şapka sonucu eklenerek elde edilen sonuç alt-şapka sonucundan çıkarılır. Önerilen yöntemde Denklem (10)’ dan elde edilen toplam morfolojik açma, toplam üst şapka ve toplam alt şapka sonuçları Denklem (11)’de ifade edildiği gibi işleme alınmıştır. Uzunluğu 21 piksel olan ve 22.5°’lik açılarla dönerek her açı için oluşturulan toplam morfolojik açma işlemi toplam üst şapka dönüşümüne eklenmiş ve elde edilen sonuç toplam alt şapka dönüşümünden çıkarılmıştır. Bu aşamaya ait görsel sonuçlar Şekil 5’de sunulmuştur.</a:t>
            </a:r>
          </a:p>
        </p:txBody>
      </p:sp>
      <p:pic>
        <p:nvPicPr>
          <p:cNvPr id="4" name="Resim 3">
            <a:extLst>
              <a:ext uri="{FF2B5EF4-FFF2-40B4-BE49-F238E27FC236}">
                <a16:creationId xmlns:a16="http://schemas.microsoft.com/office/drawing/2014/main" id="{EC296213-2388-7E3E-A2D1-3AD17528D5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2834735"/>
            <a:ext cx="3231160" cy="2255715"/>
          </a:xfrm>
          <a:prstGeom prst="rect">
            <a:avLst/>
          </a:prstGeom>
        </p:spPr>
      </p:pic>
      <p:pic>
        <p:nvPicPr>
          <p:cNvPr id="6" name="Resim 5">
            <a:extLst>
              <a:ext uri="{FF2B5EF4-FFF2-40B4-BE49-F238E27FC236}">
                <a16:creationId xmlns:a16="http://schemas.microsoft.com/office/drawing/2014/main" id="{50867E55-742C-FE89-B7A7-7C42D0F8CD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1707654"/>
            <a:ext cx="1486029" cy="983065"/>
          </a:xfrm>
          <a:prstGeom prst="rect">
            <a:avLst/>
          </a:prstGeom>
        </p:spPr>
      </p:pic>
    </p:spTree>
    <p:extLst>
      <p:ext uri="{BB962C8B-B14F-4D97-AF65-F5344CB8AC3E}">
        <p14:creationId xmlns:p14="http://schemas.microsoft.com/office/powerpoint/2010/main" val="2089833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8434" name="矩形 1"/>
          <p:cNvSpPr>
            <a:spLocks noChangeArrowheads="1"/>
          </p:cNvSpPr>
          <p:nvPr/>
        </p:nvSpPr>
        <p:spPr bwMode="auto">
          <a:xfrm>
            <a:off x="1763688" y="2079625"/>
            <a:ext cx="5786438" cy="857250"/>
          </a:xfrm>
          <a:prstGeom prst="rect">
            <a:avLst/>
          </a:prstGeom>
          <a:solidFill>
            <a:schemeClr val="bg1">
              <a:alpha val="7999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FFFFFF"/>
              </a:solidFill>
              <a:latin typeface="Calibri" panose="020F0502020204030204" pitchFamily="34" charset="0"/>
            </a:endParaRPr>
          </a:p>
        </p:txBody>
      </p:sp>
      <p:sp>
        <p:nvSpPr>
          <p:cNvPr id="18435" name="矩形 129"/>
          <p:cNvSpPr>
            <a:spLocks noChangeArrowheads="1"/>
          </p:cNvSpPr>
          <p:nvPr/>
        </p:nvSpPr>
        <p:spPr bwMode="auto">
          <a:xfrm>
            <a:off x="3419872" y="2301082"/>
            <a:ext cx="32861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tr-TR" sz="2400" dirty="0"/>
              <a:t>Bulgular ve tartışma</a:t>
            </a:r>
            <a:endParaRPr lang="zh-CN" altLang="en-US" sz="2400" dirty="0">
              <a:latin typeface="微软雅黑" panose="020B0503020204020204" pitchFamily="34" charset="-122"/>
              <a:ea typeface="微软雅黑" panose="020B0503020204020204" pitchFamily="34" charset="-122"/>
            </a:endParaRPr>
          </a:p>
        </p:txBody>
      </p:sp>
      <p:sp>
        <p:nvSpPr>
          <p:cNvPr id="18436" name="TextBox 3"/>
          <p:cNvSpPr txBox="1">
            <a:spLocks noChangeArrowheads="1"/>
          </p:cNvSpPr>
          <p:nvPr/>
        </p:nvSpPr>
        <p:spPr bwMode="auto">
          <a:xfrm>
            <a:off x="2571750" y="2000250"/>
            <a:ext cx="1000125"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6000" b="1">
                <a:latin typeface="Calibri" panose="020F0502020204030204" pitchFamily="34" charset="0"/>
              </a:rPr>
              <a:t>04</a:t>
            </a:r>
            <a:endParaRPr lang="zh-CN" altLang="en-US" sz="6000" b="1">
              <a:latin typeface="Calibri" panose="020F0502020204030204" pitchFamily="34" charset="0"/>
            </a:endParaRPr>
          </a:p>
        </p:txBody>
      </p:sp>
    </p:spTree>
  </p:cSld>
  <p:clrMapOvr>
    <a:masterClrMapping/>
  </p:clrMapOvr>
  <p:transition>
    <p:wheel spokes="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38AC8547-9D2A-D5CC-39CC-A81B41EEE33C}"/>
              </a:ext>
            </a:extLst>
          </p:cNvPr>
          <p:cNvSpPr txBox="1"/>
          <p:nvPr/>
        </p:nvSpPr>
        <p:spPr>
          <a:xfrm>
            <a:off x="107504" y="123478"/>
            <a:ext cx="5184576" cy="3323987"/>
          </a:xfrm>
          <a:prstGeom prst="rect">
            <a:avLst/>
          </a:prstGeom>
          <a:noFill/>
        </p:spPr>
        <p:txBody>
          <a:bodyPr wrap="square" rtlCol="0">
            <a:spAutoFit/>
          </a:bodyPr>
          <a:lstStyle/>
          <a:p>
            <a:r>
              <a:rPr lang="tr-TR" sz="1400" dirty="0"/>
              <a:t>Üç farklı eşikleme algoritması iyileştirilmiş </a:t>
            </a:r>
            <a:r>
              <a:rPr lang="tr-TR" sz="1400" dirty="0" err="1"/>
              <a:t>fundus</a:t>
            </a:r>
            <a:r>
              <a:rPr lang="tr-TR" sz="1400" dirty="0"/>
              <a:t> görüntüleri üzerinde uygulanarak damar piksellerinin bölütlenmesi sağlanmıştır. İyileştirilmiş görüntüler eşikleme 14 işlemine tabi tutulduktan sonra çıktı görüntüleri üzerinde performans iyileştirilmesi yapılmıştır. Performans iyileştirme yönteminde damara ait olmayan damar benzeri görüntüler morfolojik işlemler kullanılarak yok edilmiştir. Bu aşama bağlı bileşen analizi kullanılarak önce küçük nesneler silinmiş daha sonrada damardan kopuk küçük boşluklar doldurulmuştur. Şekil 6’da eşikleme algoritmalarının performans iyileştirme sonuçları görsel olarak sunulmuştur. Şekil 6’da ilk sütunda orijinal görüntüler, ikinci sütunda Bulanık Mantık Tabanlı Eşikleme yöntem sonuçları, üçüncü sütunda Maksimum Entropi Tabanlı Eşikleme yöntem sonuçları, son sütunda Çoklu Eşikleme yöntem sonuçları gösterilmiştir.</a:t>
            </a:r>
          </a:p>
        </p:txBody>
      </p:sp>
      <p:pic>
        <p:nvPicPr>
          <p:cNvPr id="4" name="Resim 3">
            <a:extLst>
              <a:ext uri="{FF2B5EF4-FFF2-40B4-BE49-F238E27FC236}">
                <a16:creationId xmlns:a16="http://schemas.microsoft.com/office/drawing/2014/main" id="{34FF1FE5-D69D-445F-318D-151026B7A1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0112" y="123478"/>
            <a:ext cx="3139712" cy="3680779"/>
          </a:xfrm>
          <a:prstGeom prst="rect">
            <a:avLst/>
          </a:prstGeom>
        </p:spPr>
      </p:pic>
    </p:spTree>
    <p:extLst>
      <p:ext uri="{BB962C8B-B14F-4D97-AF65-F5344CB8AC3E}">
        <p14:creationId xmlns:p14="http://schemas.microsoft.com/office/powerpoint/2010/main" val="3001990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CE6E08A9-9CCF-0074-AC05-758E2428EF4F}"/>
              </a:ext>
            </a:extLst>
          </p:cNvPr>
          <p:cNvSpPr txBox="1"/>
          <p:nvPr/>
        </p:nvSpPr>
        <p:spPr>
          <a:xfrm>
            <a:off x="251520" y="267494"/>
            <a:ext cx="8352928" cy="4524315"/>
          </a:xfrm>
          <a:prstGeom prst="rect">
            <a:avLst/>
          </a:prstGeom>
          <a:noFill/>
        </p:spPr>
        <p:txBody>
          <a:bodyPr wrap="square" rtlCol="0">
            <a:spAutoFit/>
          </a:bodyPr>
          <a:lstStyle/>
          <a:p>
            <a:r>
              <a:rPr lang="tr-TR" dirty="0"/>
              <a:t>Bu makalede, paylaşıma açık olarak sunulan DRIVE veri seti üzerinde morfolojik işlemlere dayalı bir damar iyileştirme yöntemi kullanılmıştır. Damar iyileştirme aşamasından sonra Çoklu Eşikleme, Bulanık Mantık Tabanlı Eşikleme ve Maksimum Eşikleme yöntemleri kullanılarak damar bölütlemesi yapılmıştır. Bu yöntem temelde morfolojik işlemlere dayanmış olsa da asıl amaç eşikleme algoritmalarının yöntem üzerindeki performanslarının karşılaştırılmasıdır. Eşikleme yöntemleri, doğası ne olursa olsun tüm veriler üzerinde kullanılabilir. Ancak, farklı eşikleme yöntemlerinin aynı iyileştirilmiş görüntü üzerinde farklı sonuçlar verdiği gözlemlenmiştir. Bu makalede, Bulanık Mantık Tabanlı Eşikleme yönteminin ortalama doğruluk oranı 0.952 olarak hesaplanmış ve diğer iki eşikleme yönteminden daha yüksek bir değere sahip olmuştur. Bu makalede elde edilen deneysel sonuçlar tatmin edici bir seviyededir. Önerilen yöntem geliştirilmeye açıktır. Halka açık bir veri seti kullanıldığı için karşılaştırması ve doğruluğu test edilebilir durumdadır. İleriki çalışmalarımızda, bu makalede elde ettiğimiz eşikleme yöntemleri tecrübelerimizi kullanarak popüler algoritmalar ile görüntü eşikleme üzerinde çalışmayı hedeflenmiş.</a:t>
            </a:r>
          </a:p>
        </p:txBody>
      </p:sp>
    </p:spTree>
    <p:extLst>
      <p:ext uri="{BB962C8B-B14F-4D97-AF65-F5344CB8AC3E}">
        <p14:creationId xmlns:p14="http://schemas.microsoft.com/office/powerpoint/2010/main" val="3962405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23554" name="组合 30"/>
          <p:cNvGrpSpPr>
            <a:grpSpLocks/>
          </p:cNvGrpSpPr>
          <p:nvPr/>
        </p:nvGrpSpPr>
        <p:grpSpPr bwMode="auto">
          <a:xfrm>
            <a:off x="2214563" y="1214438"/>
            <a:ext cx="4040116" cy="2500312"/>
            <a:chOff x="571504" y="0"/>
            <a:chExt cx="4040144" cy="2500330"/>
          </a:xfrm>
        </p:grpSpPr>
        <p:pic>
          <p:nvPicPr>
            <p:cNvPr id="23557" name="图片 5" descr="未标题-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4" y="642942"/>
              <a:ext cx="214314" cy="209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图片 7" descr="未标题-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4842" y="71438"/>
              <a:ext cx="367710" cy="359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图片 8" descr="未标题-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977124" y="1997870"/>
              <a:ext cx="513814" cy="502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3560" name="直接连接符 10"/>
            <p:cNvCxnSpPr>
              <a:cxnSpLocks noChangeShapeType="1"/>
            </p:cNvCxnSpPr>
            <p:nvPr/>
          </p:nvCxnSpPr>
          <p:spPr bwMode="auto">
            <a:xfrm flipV="1">
              <a:off x="785817" y="250827"/>
              <a:ext cx="3429024" cy="496891"/>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cxnSp>
        <p:cxnSp>
          <p:nvCxnSpPr>
            <p:cNvPr id="23561" name="直接连接符 15"/>
            <p:cNvCxnSpPr>
              <a:cxnSpLocks noChangeShapeType="1"/>
            </p:cNvCxnSpPr>
            <p:nvPr/>
          </p:nvCxnSpPr>
          <p:spPr bwMode="auto">
            <a:xfrm rot="5400000">
              <a:off x="2821800" y="746923"/>
              <a:ext cx="2000264" cy="1071569"/>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cxnSp>
        <p:cxnSp>
          <p:nvCxnSpPr>
            <p:cNvPr id="23562" name="直接连接符 18"/>
            <p:cNvCxnSpPr>
              <a:cxnSpLocks noChangeShapeType="1"/>
            </p:cNvCxnSpPr>
            <p:nvPr/>
          </p:nvCxnSpPr>
          <p:spPr bwMode="auto">
            <a:xfrm>
              <a:off x="714380" y="785818"/>
              <a:ext cx="2428892" cy="142876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cxnSp>
        <p:pic>
          <p:nvPicPr>
            <p:cNvPr id="23563" name="图片 24" descr="1245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3404" y="0"/>
              <a:ext cx="468244" cy="46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3555" name="图片 32" descr="5689.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3143250"/>
            <a:ext cx="7143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矩形 12"/>
          <p:cNvSpPr>
            <a:spLocks noChangeArrowheads="1"/>
          </p:cNvSpPr>
          <p:nvPr/>
        </p:nvSpPr>
        <p:spPr bwMode="auto">
          <a:xfrm>
            <a:off x="2438441" y="2244723"/>
            <a:ext cx="5072063" cy="477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tr-TR" altLang="zh-CN" sz="2500" b="1" dirty="0">
                <a:latin typeface="Calibri" panose="020F0502020204030204" pitchFamily="34" charset="0"/>
              </a:rPr>
              <a:t>Dinlediğiniz için teşekkürler</a:t>
            </a:r>
            <a:endParaRPr lang="zh-CN" altLang="en-US" sz="2500" b="1" dirty="0">
              <a:latin typeface="Calibri" panose="020F0502020204030204" pitchFamily="34" charset="0"/>
            </a:endParaRPr>
          </a:p>
        </p:txBody>
      </p:sp>
    </p:spTree>
  </p:cSld>
  <p:clrMapOvr>
    <a:masterClrMapping/>
  </p:clrMapOvr>
  <p:transition>
    <p:dissolve/>
  </p:transition>
</p:sld>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47</TotalTime>
  <Pages>0</Pages>
  <Words>1615</Words>
  <Characters>0</Characters>
  <Application>Microsoft Office PowerPoint</Application>
  <DocSecurity>0</DocSecurity>
  <PresentationFormat>Ekran Gösterisi (16:9)</PresentationFormat>
  <Lines>0</Lines>
  <Paragraphs>63</Paragraphs>
  <Slides>14</Slides>
  <Notes>0</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14</vt:i4>
      </vt:variant>
    </vt:vector>
  </HeadingPairs>
  <TitlesOfParts>
    <vt:vector size="18" baseType="lpstr">
      <vt:lpstr>微软雅黑</vt:lpstr>
      <vt:lpstr>Arial</vt:lpstr>
      <vt:lpstr>Calibri</vt:lpstr>
      <vt:lpstr>Office 主题</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Administrator</dc:creator>
  <cp:lastModifiedBy>Aziz Berkay Aksoy</cp:lastModifiedBy>
  <cp:revision>82</cp:revision>
  <dcterms:created xsi:type="dcterms:W3CDTF">2015-07-15T05:33:32Z</dcterms:created>
  <dcterms:modified xsi:type="dcterms:W3CDTF">2022-12-15T12:58:45Z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2052-9.1.0.5184</vt:lpwstr>
  </property>
</Properties>
</file>